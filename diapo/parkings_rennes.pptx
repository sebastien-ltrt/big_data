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B2E"/>
        </a:solidFill>
      </p:bgPr>
    </p:bg>
    <p:spTree>
      <p:nvGrpSpPr>
        <p:cNvPr id="1" name=""/>
        <p:cNvGrpSpPr/>
        <p:nvPr/>
      </p:nvGrpSpPr>
      <p:grpSpPr>
        <a:xfrm>
          <a:off x="0" y="0"/>
          <a:ext cx="0" cy="0"/>
          <a:chOff x="0" y="0"/>
          <a:chExt cx="0" cy="0"/>
        </a:xfrm>
      </p:grpSpPr>
      <p:sp>
        <p:nvSpPr>
          <p:cNvPr id="2" name="Shape 0"/>
          <p:cNvSpPr/>
          <p:nvPr/>
        </p:nvSpPr>
        <p:spPr>
          <a:xfrm>
            <a:off x="0" y="0"/>
            <a:ext cx="3200400" cy="5143500"/>
          </a:xfrm>
          <a:prstGeom prst="rect">
            <a:avLst/>
          </a:prstGeom>
          <a:solidFill>
            <a:srgbClr val="065A82"/>
          </a:solidFill>
          <a:ln w="12700">
            <a:solidFill>
              <a:srgbClr val="065A82"/>
            </a:solidFill>
            <a:prstDash val="solid"/>
          </a:ln>
        </p:spPr>
      </p:sp>
      <p:sp>
        <p:nvSpPr>
          <p:cNvPr id="3" name="Shape 1"/>
          <p:cNvSpPr/>
          <p:nvPr/>
        </p:nvSpPr>
        <p:spPr>
          <a:xfrm>
            <a:off x="0" y="0"/>
            <a:ext cx="164592" cy="5143500"/>
          </a:xfrm>
          <a:prstGeom prst="rect">
            <a:avLst/>
          </a:prstGeom>
          <a:solidFill>
            <a:srgbClr val="02C39A"/>
          </a:solidFill>
          <a:ln w="12700">
            <a:solidFill>
              <a:srgbClr val="02C39A"/>
            </a:solidFill>
            <a:prstDash val="solid"/>
          </a:ln>
        </p:spPr>
      </p:sp>
      <p:sp>
        <p:nvSpPr>
          <p:cNvPr id="4" name="Text 2"/>
          <p:cNvSpPr/>
          <p:nvPr/>
        </p:nvSpPr>
        <p:spPr>
          <a:xfrm>
            <a:off x="365760" y="1280160"/>
            <a:ext cx="2377440" cy="1828800"/>
          </a:xfrm>
          <a:prstGeom prst="rect">
            <a:avLst/>
          </a:prstGeom>
          <a:noFill/>
          <a:ln/>
        </p:spPr>
        <p:txBody>
          <a:bodyPr wrap="square" rtlCol="0" anchor="ctr"/>
          <a:lstStyle/>
          <a:p>
            <a:pPr algn="ctr" indent="0" marL="0">
              <a:buNone/>
            </a:pPr>
            <a:r>
              <a:rPr lang="en-US" sz="7200" dirty="0">
                <a:solidFill>
                  <a:srgbClr val="000000"/>
                </a:solidFill>
              </a:rPr>
              <a:t>🅿️</a:t>
            </a:r>
            <a:endParaRPr lang="en-US" sz="7200" dirty="0"/>
          </a:p>
        </p:txBody>
      </p:sp>
      <p:sp>
        <p:nvSpPr>
          <p:cNvPr id="5" name="Text 3"/>
          <p:cNvSpPr/>
          <p:nvPr/>
        </p:nvSpPr>
        <p:spPr>
          <a:xfrm>
            <a:off x="3474720" y="1005840"/>
            <a:ext cx="5303520" cy="822960"/>
          </a:xfrm>
          <a:prstGeom prst="rect">
            <a:avLst/>
          </a:prstGeom>
          <a:noFill/>
          <a:ln/>
        </p:spPr>
        <p:txBody>
          <a:bodyPr wrap="square" rtlCol="0" anchor="ctr"/>
          <a:lstStyle/>
          <a:p>
            <a:pPr indent="0" marL="0">
              <a:buNone/>
            </a:pPr>
            <a:r>
              <a:rPr lang="en-US" sz="3400" b="1" spc="100" kern="0" dirty="0">
                <a:solidFill>
                  <a:srgbClr val="FFFFFF"/>
                </a:solidFill>
              </a:rPr>
              <a:t>Parkings de Rennes</a:t>
            </a:r>
            <a:endParaRPr lang="en-US" sz="3400" dirty="0"/>
          </a:p>
        </p:txBody>
      </p:sp>
      <p:sp>
        <p:nvSpPr>
          <p:cNvPr id="6" name="Text 4"/>
          <p:cNvSpPr/>
          <p:nvPr/>
        </p:nvSpPr>
        <p:spPr>
          <a:xfrm>
            <a:off x="3474720" y="1828800"/>
            <a:ext cx="5303520" cy="640080"/>
          </a:xfrm>
          <a:prstGeom prst="rect">
            <a:avLst/>
          </a:prstGeom>
          <a:noFill/>
          <a:ln/>
        </p:spPr>
        <p:txBody>
          <a:bodyPr wrap="square" rtlCol="0" anchor="ctr"/>
          <a:lstStyle/>
          <a:p>
            <a:pPr indent="0" marL="0">
              <a:buNone/>
            </a:pPr>
            <a:r>
              <a:rPr lang="en-US" sz="2600" i="1" dirty="0">
                <a:solidFill>
                  <a:srgbClr val="02C39A"/>
                </a:solidFill>
              </a:rPr>
              <a:t>en temps réel</a:t>
            </a:r>
            <a:endParaRPr lang="en-US" sz="2600" dirty="0"/>
          </a:p>
        </p:txBody>
      </p:sp>
      <p:sp>
        <p:nvSpPr>
          <p:cNvPr id="7" name="Shape 5"/>
          <p:cNvSpPr/>
          <p:nvPr/>
        </p:nvSpPr>
        <p:spPr>
          <a:xfrm>
            <a:off x="3474720" y="2606040"/>
            <a:ext cx="4754880" cy="36576"/>
          </a:xfrm>
          <a:prstGeom prst="rect">
            <a:avLst/>
          </a:prstGeom>
          <a:solidFill>
            <a:srgbClr val="1C7293"/>
          </a:solidFill>
          <a:ln w="12700">
            <a:solidFill>
              <a:srgbClr val="1C7293"/>
            </a:solidFill>
            <a:prstDash val="solid"/>
          </a:ln>
        </p:spPr>
      </p:sp>
      <p:sp>
        <p:nvSpPr>
          <p:cNvPr id="8" name="Text 6"/>
          <p:cNvSpPr/>
          <p:nvPr/>
        </p:nvSpPr>
        <p:spPr>
          <a:xfrm>
            <a:off x="3474720" y="2788920"/>
            <a:ext cx="5303520" cy="731520"/>
          </a:xfrm>
          <a:prstGeom prst="rect">
            <a:avLst/>
          </a:prstGeom>
          <a:noFill/>
          <a:ln/>
        </p:spPr>
        <p:txBody>
          <a:bodyPr wrap="square" rtlCol="0" anchor="ctr"/>
          <a:lstStyle/>
          <a:p>
            <a:pPr indent="0" marL="0">
              <a:buNone/>
            </a:pPr>
            <a:r>
              <a:rPr lang="en-US" sz="1300" dirty="0">
                <a:solidFill>
                  <a:srgbClr val="9ECFE8"/>
                </a:solidFill>
              </a:rPr>
              <a:t>Pipeline Big Data complet : collecte, stockage, traitement et visualisation</a:t>
            </a:r>
            <a:endParaRPr lang="en-US" sz="1300" dirty="0"/>
          </a:p>
        </p:txBody>
      </p:sp>
      <p:sp>
        <p:nvSpPr>
          <p:cNvPr id="9" name="Shape 7"/>
          <p:cNvSpPr/>
          <p:nvPr/>
        </p:nvSpPr>
        <p:spPr>
          <a:xfrm>
            <a:off x="3474720" y="3749040"/>
            <a:ext cx="1554480" cy="347472"/>
          </a:xfrm>
          <a:prstGeom prst="roundRect">
            <a:avLst>
              <a:gd name="adj" fmla="val 13158"/>
            </a:avLst>
          </a:prstGeom>
          <a:solidFill>
            <a:srgbClr val="1C7293"/>
          </a:solidFill>
          <a:ln w="12700">
            <a:solidFill>
              <a:srgbClr val="1C7293"/>
            </a:solidFill>
            <a:prstDash val="solid"/>
          </a:ln>
        </p:spPr>
      </p:sp>
      <p:sp>
        <p:nvSpPr>
          <p:cNvPr id="10" name="Text 8"/>
          <p:cNvSpPr/>
          <p:nvPr/>
        </p:nvSpPr>
        <p:spPr>
          <a:xfrm>
            <a:off x="3474720" y="3749040"/>
            <a:ext cx="1554480" cy="347472"/>
          </a:xfrm>
          <a:prstGeom prst="rect">
            <a:avLst/>
          </a:prstGeom>
          <a:noFill/>
          <a:ln/>
        </p:spPr>
        <p:txBody>
          <a:bodyPr wrap="square" lIns="0" tIns="0" rIns="0" bIns="0" rtlCol="0" anchor="ctr"/>
          <a:lstStyle/>
          <a:p>
            <a:pPr algn="ctr" indent="0" marL="0">
              <a:buNone/>
            </a:pPr>
            <a:r>
              <a:rPr lang="en-US" sz="1100" b="1" dirty="0">
                <a:solidFill>
                  <a:srgbClr val="FFFFFF"/>
                </a:solidFill>
              </a:rPr>
              <a:t>Python</a:t>
            </a:r>
            <a:endParaRPr lang="en-US" sz="1100" dirty="0"/>
          </a:p>
        </p:txBody>
      </p:sp>
      <p:sp>
        <p:nvSpPr>
          <p:cNvPr id="11" name="Shape 9"/>
          <p:cNvSpPr/>
          <p:nvPr/>
        </p:nvSpPr>
        <p:spPr>
          <a:xfrm>
            <a:off x="5212080" y="3749040"/>
            <a:ext cx="1554480" cy="347472"/>
          </a:xfrm>
          <a:prstGeom prst="roundRect">
            <a:avLst>
              <a:gd name="adj" fmla="val 13158"/>
            </a:avLst>
          </a:prstGeom>
          <a:solidFill>
            <a:srgbClr val="065A82"/>
          </a:solidFill>
          <a:ln w="12700">
            <a:solidFill>
              <a:srgbClr val="065A82"/>
            </a:solidFill>
            <a:prstDash val="solid"/>
          </a:ln>
        </p:spPr>
      </p:sp>
      <p:sp>
        <p:nvSpPr>
          <p:cNvPr id="12" name="Text 10"/>
          <p:cNvSpPr/>
          <p:nvPr/>
        </p:nvSpPr>
        <p:spPr>
          <a:xfrm>
            <a:off x="5212080" y="3749040"/>
            <a:ext cx="1554480" cy="347472"/>
          </a:xfrm>
          <a:prstGeom prst="rect">
            <a:avLst/>
          </a:prstGeom>
          <a:noFill/>
          <a:ln/>
        </p:spPr>
        <p:txBody>
          <a:bodyPr wrap="square" lIns="0" tIns="0" rIns="0" bIns="0" rtlCol="0" anchor="ctr"/>
          <a:lstStyle/>
          <a:p>
            <a:pPr algn="ctr" indent="0" marL="0">
              <a:buNone/>
            </a:pPr>
            <a:r>
              <a:rPr lang="en-US" sz="1100" b="1" dirty="0">
                <a:solidFill>
                  <a:srgbClr val="FFFFFF"/>
                </a:solidFill>
              </a:rPr>
              <a:t>Airflow</a:t>
            </a:r>
            <a:endParaRPr lang="en-US" sz="1100" dirty="0"/>
          </a:p>
        </p:txBody>
      </p:sp>
      <p:sp>
        <p:nvSpPr>
          <p:cNvPr id="13" name="Shape 11"/>
          <p:cNvSpPr/>
          <p:nvPr/>
        </p:nvSpPr>
        <p:spPr>
          <a:xfrm>
            <a:off x="6949440" y="3749040"/>
            <a:ext cx="1554480" cy="347472"/>
          </a:xfrm>
          <a:prstGeom prst="roundRect">
            <a:avLst>
              <a:gd name="adj" fmla="val 13158"/>
            </a:avLst>
          </a:prstGeom>
          <a:solidFill>
            <a:srgbClr val="065A82"/>
          </a:solidFill>
          <a:ln w="12700">
            <a:solidFill>
              <a:srgbClr val="065A82"/>
            </a:solidFill>
            <a:prstDash val="solid"/>
          </a:ln>
        </p:spPr>
      </p:sp>
      <p:sp>
        <p:nvSpPr>
          <p:cNvPr id="14" name="Text 12"/>
          <p:cNvSpPr/>
          <p:nvPr/>
        </p:nvSpPr>
        <p:spPr>
          <a:xfrm>
            <a:off x="6949440" y="3749040"/>
            <a:ext cx="1554480" cy="347472"/>
          </a:xfrm>
          <a:prstGeom prst="rect">
            <a:avLst/>
          </a:prstGeom>
          <a:noFill/>
          <a:ln/>
        </p:spPr>
        <p:txBody>
          <a:bodyPr wrap="square" lIns="0" tIns="0" rIns="0" bIns="0" rtlCol="0" anchor="ctr"/>
          <a:lstStyle/>
          <a:p>
            <a:pPr algn="ctr" indent="0" marL="0">
              <a:buNone/>
            </a:pPr>
            <a:r>
              <a:rPr lang="en-US" sz="1100" b="1" dirty="0">
                <a:solidFill>
                  <a:srgbClr val="FFFFFF"/>
                </a:solidFill>
              </a:rPr>
              <a:t>MinIO</a:t>
            </a:r>
            <a:endParaRPr lang="en-US" sz="1100" dirty="0"/>
          </a:p>
        </p:txBody>
      </p:sp>
      <p:sp>
        <p:nvSpPr>
          <p:cNvPr id="15" name="Shape 13"/>
          <p:cNvSpPr/>
          <p:nvPr/>
        </p:nvSpPr>
        <p:spPr>
          <a:xfrm>
            <a:off x="3474720" y="4224528"/>
            <a:ext cx="1554480" cy="347472"/>
          </a:xfrm>
          <a:prstGeom prst="roundRect">
            <a:avLst>
              <a:gd name="adj" fmla="val 13158"/>
            </a:avLst>
          </a:prstGeom>
          <a:solidFill>
            <a:srgbClr val="1C7293"/>
          </a:solidFill>
          <a:ln w="12700">
            <a:solidFill>
              <a:srgbClr val="1C7293"/>
            </a:solidFill>
            <a:prstDash val="solid"/>
          </a:ln>
        </p:spPr>
      </p:sp>
      <p:sp>
        <p:nvSpPr>
          <p:cNvPr id="16" name="Text 14"/>
          <p:cNvSpPr/>
          <p:nvPr/>
        </p:nvSpPr>
        <p:spPr>
          <a:xfrm>
            <a:off x="3474720" y="4224528"/>
            <a:ext cx="1554480" cy="347472"/>
          </a:xfrm>
          <a:prstGeom prst="rect">
            <a:avLst/>
          </a:prstGeom>
          <a:noFill/>
          <a:ln/>
        </p:spPr>
        <p:txBody>
          <a:bodyPr wrap="square" lIns="0" tIns="0" rIns="0" bIns="0" rtlCol="0" anchor="ctr"/>
          <a:lstStyle/>
          <a:p>
            <a:pPr algn="ctr" indent="0" marL="0">
              <a:buNone/>
            </a:pPr>
            <a:r>
              <a:rPr lang="en-US" sz="1100" b="1" dirty="0">
                <a:solidFill>
                  <a:srgbClr val="FFFFFF"/>
                </a:solidFill>
              </a:rPr>
              <a:t>Spark</a:t>
            </a:r>
            <a:endParaRPr lang="en-US" sz="1100" dirty="0"/>
          </a:p>
        </p:txBody>
      </p:sp>
      <p:sp>
        <p:nvSpPr>
          <p:cNvPr id="17" name="Shape 15"/>
          <p:cNvSpPr/>
          <p:nvPr/>
        </p:nvSpPr>
        <p:spPr>
          <a:xfrm>
            <a:off x="5212080" y="4224528"/>
            <a:ext cx="1554480" cy="347472"/>
          </a:xfrm>
          <a:prstGeom prst="roundRect">
            <a:avLst>
              <a:gd name="adj" fmla="val 13158"/>
            </a:avLst>
          </a:prstGeom>
          <a:solidFill>
            <a:srgbClr val="065A82"/>
          </a:solidFill>
          <a:ln w="12700">
            <a:solidFill>
              <a:srgbClr val="065A82"/>
            </a:solidFill>
            <a:prstDash val="solid"/>
          </a:ln>
        </p:spPr>
      </p:sp>
      <p:sp>
        <p:nvSpPr>
          <p:cNvPr id="18" name="Text 16"/>
          <p:cNvSpPr/>
          <p:nvPr/>
        </p:nvSpPr>
        <p:spPr>
          <a:xfrm>
            <a:off x="5212080" y="4224528"/>
            <a:ext cx="1554480" cy="347472"/>
          </a:xfrm>
          <a:prstGeom prst="rect">
            <a:avLst/>
          </a:prstGeom>
          <a:noFill/>
          <a:ln/>
        </p:spPr>
        <p:txBody>
          <a:bodyPr wrap="square" lIns="0" tIns="0" rIns="0" bIns="0" rtlCol="0" anchor="ctr"/>
          <a:lstStyle/>
          <a:p>
            <a:pPr algn="ctr" indent="0" marL="0">
              <a:buNone/>
            </a:pPr>
            <a:r>
              <a:rPr lang="en-US" sz="1100" b="1" dirty="0">
                <a:solidFill>
                  <a:srgbClr val="FFFFFF"/>
                </a:solidFill>
              </a:rPr>
              <a:t>PostgreSQL</a:t>
            </a:r>
            <a:endParaRPr lang="en-US" sz="1100" dirty="0"/>
          </a:p>
        </p:txBody>
      </p:sp>
      <p:sp>
        <p:nvSpPr>
          <p:cNvPr id="19" name="Shape 17"/>
          <p:cNvSpPr/>
          <p:nvPr/>
        </p:nvSpPr>
        <p:spPr>
          <a:xfrm>
            <a:off x="6949440" y="4224528"/>
            <a:ext cx="1554480" cy="347472"/>
          </a:xfrm>
          <a:prstGeom prst="roundRect">
            <a:avLst>
              <a:gd name="adj" fmla="val 13158"/>
            </a:avLst>
          </a:prstGeom>
          <a:solidFill>
            <a:srgbClr val="1C7293"/>
          </a:solidFill>
          <a:ln w="12700">
            <a:solidFill>
              <a:srgbClr val="1C7293"/>
            </a:solidFill>
            <a:prstDash val="solid"/>
          </a:ln>
        </p:spPr>
      </p:sp>
      <p:sp>
        <p:nvSpPr>
          <p:cNvPr id="20" name="Text 18"/>
          <p:cNvSpPr/>
          <p:nvPr/>
        </p:nvSpPr>
        <p:spPr>
          <a:xfrm>
            <a:off x="6949440" y="4224528"/>
            <a:ext cx="1554480" cy="347472"/>
          </a:xfrm>
          <a:prstGeom prst="rect">
            <a:avLst/>
          </a:prstGeom>
          <a:noFill/>
          <a:ln/>
        </p:spPr>
        <p:txBody>
          <a:bodyPr wrap="square" lIns="0" tIns="0" rIns="0" bIns="0" rtlCol="0" anchor="ctr"/>
          <a:lstStyle/>
          <a:p>
            <a:pPr algn="ctr" indent="0" marL="0">
              <a:buNone/>
            </a:pPr>
            <a:r>
              <a:rPr lang="en-US" sz="1100" b="1" dirty="0">
                <a:solidFill>
                  <a:srgbClr val="FFFFFF"/>
                </a:solidFill>
              </a:rPr>
              <a:t>Streamlit</a:t>
            </a:r>
            <a:endParaRPr lang="en-US" sz="1100" dirty="0"/>
          </a:p>
        </p:txBody>
      </p:sp>
      <p:sp>
        <p:nvSpPr>
          <p:cNvPr id="21" name="Text 19"/>
          <p:cNvSpPr/>
          <p:nvPr/>
        </p:nvSpPr>
        <p:spPr>
          <a:xfrm>
            <a:off x="3474720" y="4754880"/>
            <a:ext cx="5303520" cy="274320"/>
          </a:xfrm>
          <a:prstGeom prst="rect">
            <a:avLst/>
          </a:prstGeom>
          <a:noFill/>
          <a:ln/>
        </p:spPr>
        <p:txBody>
          <a:bodyPr wrap="square" rtlCol="0" anchor="ctr"/>
          <a:lstStyle/>
          <a:p>
            <a:pPr indent="0" marL="0">
              <a:buNone/>
            </a:pPr>
            <a:r>
              <a:rPr lang="en-US" sz="900" i="1" dirty="0">
                <a:solidFill>
                  <a:srgbClr val="6B9DB5"/>
                </a:solidFill>
              </a:rPr>
              <a:t>Big Data B2 — Sup de Vinci  ·  Diallo Alimoú</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F8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65A82"/>
          </a:solidFill>
          <a:ln w="12700">
            <a:solidFill>
              <a:srgbClr val="065A82"/>
            </a:solidFill>
            <a:prstDash val="solid"/>
          </a:ln>
        </p:spPr>
      </p:sp>
      <p:sp>
        <p:nvSpPr>
          <p:cNvPr id="3" name="Text 1"/>
          <p:cNvSpPr/>
          <p:nvPr/>
        </p:nvSpPr>
        <p:spPr>
          <a:xfrm>
            <a:off x="365760" y="0"/>
            <a:ext cx="8412480" cy="822960"/>
          </a:xfrm>
          <a:prstGeom prst="rect">
            <a:avLst/>
          </a:prstGeom>
          <a:noFill/>
          <a:ln/>
        </p:spPr>
        <p:txBody>
          <a:bodyPr wrap="square" lIns="0" tIns="0" rIns="0" bIns="0" rtlCol="0" anchor="ctr"/>
          <a:lstStyle/>
          <a:p>
            <a:pPr indent="0" marL="0">
              <a:buNone/>
            </a:pPr>
            <a:r>
              <a:rPr lang="en-US" sz="2200" b="1" dirty="0">
                <a:solidFill>
                  <a:srgbClr val="FFFFFF"/>
                </a:solidFill>
              </a:rPr>
              <a:t>Vue d'ensemble — Comment ça marche ?</a:t>
            </a:r>
            <a:endParaRPr lang="en-US" sz="2200" dirty="0"/>
          </a:p>
        </p:txBody>
      </p:sp>
      <p:sp>
        <p:nvSpPr>
          <p:cNvPr id="4" name="Text 2"/>
          <p:cNvSpPr/>
          <p:nvPr/>
        </p:nvSpPr>
        <p:spPr>
          <a:xfrm>
            <a:off x="457200" y="914400"/>
            <a:ext cx="8229600" cy="685800"/>
          </a:xfrm>
          <a:prstGeom prst="rect">
            <a:avLst/>
          </a:prstGeom>
          <a:noFill/>
          <a:ln/>
        </p:spPr>
        <p:txBody>
          <a:bodyPr wrap="square" rtlCol="0" anchor="ctr"/>
          <a:lstStyle/>
          <a:p>
            <a:pPr indent="0" marL="0">
              <a:buNone/>
            </a:pPr>
            <a:r>
              <a:rPr lang="en-US" sz="1300" dirty="0">
                <a:solidFill>
                  <a:srgbClr val="2C5F7A"/>
                </a:solidFill>
              </a:rPr>
              <a:t>Le projet suit un pipeline en 5 étapes : les données brutes sont collectées depuis des sources externes, stockées dans un lac de données, traitées, chargées dans une base structurée, puis affichées dans un tableau de bord interactif.</a:t>
            </a:r>
            <a:endParaRPr lang="en-US" sz="1300" dirty="0"/>
          </a:p>
        </p:txBody>
      </p:sp>
      <p:sp>
        <p:nvSpPr>
          <p:cNvPr id="5" name="Shape 3"/>
          <p:cNvSpPr/>
          <p:nvPr/>
        </p:nvSpPr>
        <p:spPr>
          <a:xfrm>
            <a:off x="320040" y="1737360"/>
            <a:ext cx="1353312" cy="1463040"/>
          </a:xfrm>
          <a:prstGeom prst="rect">
            <a:avLst/>
          </a:prstGeom>
          <a:solidFill>
            <a:srgbClr val="065A82"/>
          </a:solidFill>
          <a:ln w="12700">
            <a:solidFill>
              <a:srgbClr val="065A82"/>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813816" y="1828800"/>
            <a:ext cx="365760" cy="365760"/>
          </a:xfrm>
          <a:prstGeom prst="ellipse">
            <a:avLst/>
          </a:prstGeom>
          <a:solidFill>
            <a:srgbClr val="FFFFFF"/>
          </a:solidFill>
          <a:ln w="12700">
            <a:solidFill>
              <a:srgbClr val="FFFFFF"/>
            </a:solidFill>
            <a:prstDash val="solid"/>
          </a:ln>
        </p:spPr>
      </p:sp>
      <p:sp>
        <p:nvSpPr>
          <p:cNvPr id="7" name="Text 5"/>
          <p:cNvSpPr/>
          <p:nvPr/>
        </p:nvSpPr>
        <p:spPr>
          <a:xfrm>
            <a:off x="813816" y="1828800"/>
            <a:ext cx="365760" cy="365760"/>
          </a:xfrm>
          <a:prstGeom prst="rect">
            <a:avLst/>
          </a:prstGeom>
          <a:noFill/>
          <a:ln/>
        </p:spPr>
        <p:txBody>
          <a:bodyPr wrap="square" lIns="0" tIns="0" rIns="0" bIns="0" rtlCol="0" anchor="ctr"/>
          <a:lstStyle/>
          <a:p>
            <a:pPr algn="ctr" indent="0" marL="0">
              <a:buNone/>
            </a:pPr>
            <a:r>
              <a:rPr lang="en-US" sz="1300" b="1" dirty="0">
                <a:solidFill>
                  <a:srgbClr val="065A82"/>
                </a:solidFill>
              </a:rPr>
              <a:t>1</a:t>
            </a:r>
            <a:endParaRPr lang="en-US" sz="1300" dirty="0"/>
          </a:p>
        </p:txBody>
      </p:sp>
      <p:sp>
        <p:nvSpPr>
          <p:cNvPr id="8" name="Text 6"/>
          <p:cNvSpPr/>
          <p:nvPr/>
        </p:nvSpPr>
        <p:spPr>
          <a:xfrm>
            <a:off x="320040" y="2240280"/>
            <a:ext cx="1353312"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9" name="Text 7"/>
          <p:cNvSpPr/>
          <p:nvPr/>
        </p:nvSpPr>
        <p:spPr>
          <a:xfrm>
            <a:off x="320040" y="2743200"/>
            <a:ext cx="1353312" cy="274320"/>
          </a:xfrm>
          <a:prstGeom prst="rect">
            <a:avLst/>
          </a:prstGeom>
          <a:noFill/>
          <a:ln/>
        </p:spPr>
        <p:txBody>
          <a:bodyPr wrap="square" lIns="0" tIns="0" rIns="0" bIns="0" rtlCol="0" anchor="ctr"/>
          <a:lstStyle/>
          <a:p>
            <a:pPr algn="ctr" indent="0" marL="0">
              <a:buNone/>
            </a:pPr>
            <a:r>
              <a:rPr lang="en-US" sz="1300" b="1" dirty="0">
                <a:solidFill>
                  <a:srgbClr val="FFFFFF"/>
                </a:solidFill>
              </a:rPr>
              <a:t>Collecte</a:t>
            </a:r>
            <a:endParaRPr lang="en-US" sz="1300" dirty="0"/>
          </a:p>
        </p:txBody>
      </p:sp>
      <p:sp>
        <p:nvSpPr>
          <p:cNvPr id="10" name="Text 8"/>
          <p:cNvSpPr/>
          <p:nvPr/>
        </p:nvSpPr>
        <p:spPr>
          <a:xfrm>
            <a:off x="320040" y="2999232"/>
            <a:ext cx="1353312" cy="201168"/>
          </a:xfrm>
          <a:prstGeom prst="rect">
            <a:avLst/>
          </a:prstGeom>
          <a:noFill/>
          <a:ln/>
        </p:spPr>
        <p:txBody>
          <a:bodyPr wrap="square" lIns="0" tIns="0" rIns="0" bIns="0" rtlCol="0" anchor="ctr"/>
          <a:lstStyle/>
          <a:p>
            <a:pPr algn="ctr" indent="0" marL="0">
              <a:buNone/>
            </a:pPr>
            <a:r>
              <a:rPr lang="en-US" sz="900" dirty="0">
                <a:solidFill>
                  <a:srgbClr val="C8EEFA"/>
                </a:solidFill>
              </a:rPr>
              <a:t>APIs + Scraping</a:t>
            </a:r>
            <a:endParaRPr lang="en-US" sz="900" dirty="0"/>
          </a:p>
        </p:txBody>
      </p:sp>
      <p:sp>
        <p:nvSpPr>
          <p:cNvPr id="11" name="Text 9"/>
          <p:cNvSpPr/>
          <p:nvPr/>
        </p:nvSpPr>
        <p:spPr>
          <a:xfrm>
            <a:off x="1709928" y="2240280"/>
            <a:ext cx="256032" cy="502920"/>
          </a:xfrm>
          <a:prstGeom prst="rect">
            <a:avLst/>
          </a:prstGeom>
          <a:noFill/>
          <a:ln/>
        </p:spPr>
        <p:txBody>
          <a:bodyPr wrap="square" lIns="0" tIns="0" rIns="0" bIns="0" rtlCol="0" anchor="ctr"/>
          <a:lstStyle/>
          <a:p>
            <a:pPr algn="ctr" indent="0" marL="0">
              <a:buNone/>
            </a:pPr>
            <a:r>
              <a:rPr lang="en-US" sz="1800" b="1" dirty="0">
                <a:solidFill>
                  <a:srgbClr val="1C7293"/>
                </a:solidFill>
              </a:rPr>
              <a:t>→</a:t>
            </a:r>
            <a:endParaRPr lang="en-US" sz="1800" dirty="0"/>
          </a:p>
        </p:txBody>
      </p:sp>
      <p:sp>
        <p:nvSpPr>
          <p:cNvPr id="12" name="Shape 10"/>
          <p:cNvSpPr/>
          <p:nvPr/>
        </p:nvSpPr>
        <p:spPr>
          <a:xfrm>
            <a:off x="2002536" y="1737360"/>
            <a:ext cx="1353312" cy="1463040"/>
          </a:xfrm>
          <a:prstGeom prst="rect">
            <a:avLst/>
          </a:prstGeom>
          <a:solidFill>
            <a:srgbClr val="1C7293"/>
          </a:solidFill>
          <a:ln w="12700">
            <a:solidFill>
              <a:srgbClr val="1C7293"/>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2496312" y="1828800"/>
            <a:ext cx="365760" cy="365760"/>
          </a:xfrm>
          <a:prstGeom prst="ellipse">
            <a:avLst/>
          </a:prstGeom>
          <a:solidFill>
            <a:srgbClr val="FFFFFF"/>
          </a:solidFill>
          <a:ln w="12700">
            <a:solidFill>
              <a:srgbClr val="FFFFFF"/>
            </a:solidFill>
            <a:prstDash val="solid"/>
          </a:ln>
        </p:spPr>
      </p:sp>
      <p:sp>
        <p:nvSpPr>
          <p:cNvPr id="14" name="Text 12"/>
          <p:cNvSpPr/>
          <p:nvPr/>
        </p:nvSpPr>
        <p:spPr>
          <a:xfrm>
            <a:off x="2496312" y="1828800"/>
            <a:ext cx="365760" cy="365760"/>
          </a:xfrm>
          <a:prstGeom prst="rect">
            <a:avLst/>
          </a:prstGeom>
          <a:noFill/>
          <a:ln/>
        </p:spPr>
        <p:txBody>
          <a:bodyPr wrap="square" lIns="0" tIns="0" rIns="0" bIns="0" rtlCol="0" anchor="ctr"/>
          <a:lstStyle/>
          <a:p>
            <a:pPr algn="ctr" indent="0" marL="0">
              <a:buNone/>
            </a:pPr>
            <a:r>
              <a:rPr lang="en-US" sz="1300" b="1" dirty="0">
                <a:solidFill>
                  <a:srgbClr val="1C7293"/>
                </a:solidFill>
              </a:rPr>
              <a:t>2</a:t>
            </a:r>
            <a:endParaRPr lang="en-US" sz="1300" dirty="0"/>
          </a:p>
        </p:txBody>
      </p:sp>
      <p:sp>
        <p:nvSpPr>
          <p:cNvPr id="15" name="Text 13"/>
          <p:cNvSpPr/>
          <p:nvPr/>
        </p:nvSpPr>
        <p:spPr>
          <a:xfrm>
            <a:off x="2002536" y="2240280"/>
            <a:ext cx="1353312"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6" name="Text 14"/>
          <p:cNvSpPr/>
          <p:nvPr/>
        </p:nvSpPr>
        <p:spPr>
          <a:xfrm>
            <a:off x="2002536" y="2743200"/>
            <a:ext cx="1353312" cy="274320"/>
          </a:xfrm>
          <a:prstGeom prst="rect">
            <a:avLst/>
          </a:prstGeom>
          <a:noFill/>
          <a:ln/>
        </p:spPr>
        <p:txBody>
          <a:bodyPr wrap="square" lIns="0" tIns="0" rIns="0" bIns="0" rtlCol="0" anchor="ctr"/>
          <a:lstStyle/>
          <a:p>
            <a:pPr algn="ctr" indent="0" marL="0">
              <a:buNone/>
            </a:pPr>
            <a:r>
              <a:rPr lang="en-US" sz="1300" b="1" dirty="0">
                <a:solidFill>
                  <a:srgbClr val="FFFFFF"/>
                </a:solidFill>
              </a:rPr>
              <a:t>Data Lake</a:t>
            </a:r>
            <a:endParaRPr lang="en-US" sz="1300" dirty="0"/>
          </a:p>
        </p:txBody>
      </p:sp>
      <p:sp>
        <p:nvSpPr>
          <p:cNvPr id="17" name="Text 15"/>
          <p:cNvSpPr/>
          <p:nvPr/>
        </p:nvSpPr>
        <p:spPr>
          <a:xfrm>
            <a:off x="2002536" y="2999232"/>
            <a:ext cx="1353312" cy="201168"/>
          </a:xfrm>
          <a:prstGeom prst="rect">
            <a:avLst/>
          </a:prstGeom>
          <a:noFill/>
          <a:ln/>
        </p:spPr>
        <p:txBody>
          <a:bodyPr wrap="square" lIns="0" tIns="0" rIns="0" bIns="0" rtlCol="0" anchor="ctr"/>
          <a:lstStyle/>
          <a:p>
            <a:pPr algn="ctr" indent="0" marL="0">
              <a:buNone/>
            </a:pPr>
            <a:r>
              <a:rPr lang="en-US" sz="900" dirty="0">
                <a:solidFill>
                  <a:srgbClr val="C8EEFA"/>
                </a:solidFill>
              </a:rPr>
              <a:t>MinIO (S3)</a:t>
            </a:r>
            <a:endParaRPr lang="en-US" sz="900" dirty="0"/>
          </a:p>
        </p:txBody>
      </p:sp>
      <p:sp>
        <p:nvSpPr>
          <p:cNvPr id="18" name="Text 16"/>
          <p:cNvSpPr/>
          <p:nvPr/>
        </p:nvSpPr>
        <p:spPr>
          <a:xfrm>
            <a:off x="3392424" y="2240280"/>
            <a:ext cx="256032" cy="502920"/>
          </a:xfrm>
          <a:prstGeom prst="rect">
            <a:avLst/>
          </a:prstGeom>
          <a:noFill/>
          <a:ln/>
        </p:spPr>
        <p:txBody>
          <a:bodyPr wrap="square" lIns="0" tIns="0" rIns="0" bIns="0" rtlCol="0" anchor="ctr"/>
          <a:lstStyle/>
          <a:p>
            <a:pPr algn="ctr" indent="0" marL="0">
              <a:buNone/>
            </a:pPr>
            <a:r>
              <a:rPr lang="en-US" sz="1800" b="1" dirty="0">
                <a:solidFill>
                  <a:srgbClr val="1C7293"/>
                </a:solidFill>
              </a:rPr>
              <a:t>→</a:t>
            </a:r>
            <a:endParaRPr lang="en-US" sz="1800" dirty="0"/>
          </a:p>
        </p:txBody>
      </p:sp>
      <p:sp>
        <p:nvSpPr>
          <p:cNvPr id="19" name="Shape 17"/>
          <p:cNvSpPr/>
          <p:nvPr/>
        </p:nvSpPr>
        <p:spPr>
          <a:xfrm>
            <a:off x="3685032" y="1737360"/>
            <a:ext cx="1353312" cy="1463040"/>
          </a:xfrm>
          <a:prstGeom prst="rect">
            <a:avLst/>
          </a:prstGeom>
          <a:solidFill>
            <a:srgbClr val="028090"/>
          </a:solidFill>
          <a:ln w="12700">
            <a:solidFill>
              <a:srgbClr val="028090"/>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4178808" y="1828800"/>
            <a:ext cx="365760" cy="365760"/>
          </a:xfrm>
          <a:prstGeom prst="ellipse">
            <a:avLst/>
          </a:prstGeom>
          <a:solidFill>
            <a:srgbClr val="FFFFFF"/>
          </a:solidFill>
          <a:ln w="12700">
            <a:solidFill>
              <a:srgbClr val="FFFFFF"/>
            </a:solidFill>
            <a:prstDash val="solid"/>
          </a:ln>
        </p:spPr>
      </p:sp>
      <p:sp>
        <p:nvSpPr>
          <p:cNvPr id="21" name="Text 19"/>
          <p:cNvSpPr/>
          <p:nvPr/>
        </p:nvSpPr>
        <p:spPr>
          <a:xfrm>
            <a:off x="4178808" y="1828800"/>
            <a:ext cx="365760" cy="365760"/>
          </a:xfrm>
          <a:prstGeom prst="rect">
            <a:avLst/>
          </a:prstGeom>
          <a:noFill/>
          <a:ln/>
        </p:spPr>
        <p:txBody>
          <a:bodyPr wrap="square" lIns="0" tIns="0" rIns="0" bIns="0" rtlCol="0" anchor="ctr"/>
          <a:lstStyle/>
          <a:p>
            <a:pPr algn="ctr" indent="0" marL="0">
              <a:buNone/>
            </a:pPr>
            <a:r>
              <a:rPr lang="en-US" sz="1300" b="1" dirty="0">
                <a:solidFill>
                  <a:srgbClr val="028090"/>
                </a:solidFill>
              </a:rPr>
              <a:t>3</a:t>
            </a:r>
            <a:endParaRPr lang="en-US" sz="1300" dirty="0"/>
          </a:p>
        </p:txBody>
      </p:sp>
      <p:sp>
        <p:nvSpPr>
          <p:cNvPr id="22" name="Text 20"/>
          <p:cNvSpPr/>
          <p:nvPr/>
        </p:nvSpPr>
        <p:spPr>
          <a:xfrm>
            <a:off x="3685032" y="2240280"/>
            <a:ext cx="1353312"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3" name="Text 21"/>
          <p:cNvSpPr/>
          <p:nvPr/>
        </p:nvSpPr>
        <p:spPr>
          <a:xfrm>
            <a:off x="3685032" y="2743200"/>
            <a:ext cx="1353312" cy="274320"/>
          </a:xfrm>
          <a:prstGeom prst="rect">
            <a:avLst/>
          </a:prstGeom>
          <a:noFill/>
          <a:ln/>
        </p:spPr>
        <p:txBody>
          <a:bodyPr wrap="square" lIns="0" tIns="0" rIns="0" bIns="0" rtlCol="0" anchor="ctr"/>
          <a:lstStyle/>
          <a:p>
            <a:pPr algn="ctr" indent="0" marL="0">
              <a:buNone/>
            </a:pPr>
            <a:r>
              <a:rPr lang="en-US" sz="1300" b="1" dirty="0">
                <a:solidFill>
                  <a:srgbClr val="FFFFFF"/>
                </a:solidFill>
              </a:rPr>
              <a:t>Traitement</a:t>
            </a:r>
            <a:endParaRPr lang="en-US" sz="1300" dirty="0"/>
          </a:p>
        </p:txBody>
      </p:sp>
      <p:sp>
        <p:nvSpPr>
          <p:cNvPr id="24" name="Text 22"/>
          <p:cNvSpPr/>
          <p:nvPr/>
        </p:nvSpPr>
        <p:spPr>
          <a:xfrm>
            <a:off x="3685032" y="2999232"/>
            <a:ext cx="1353312" cy="201168"/>
          </a:xfrm>
          <a:prstGeom prst="rect">
            <a:avLst/>
          </a:prstGeom>
          <a:noFill/>
          <a:ln/>
        </p:spPr>
        <p:txBody>
          <a:bodyPr wrap="square" lIns="0" tIns="0" rIns="0" bIns="0" rtlCol="0" anchor="ctr"/>
          <a:lstStyle/>
          <a:p>
            <a:pPr algn="ctr" indent="0" marL="0">
              <a:buNone/>
            </a:pPr>
            <a:r>
              <a:rPr lang="en-US" sz="900" dirty="0">
                <a:solidFill>
                  <a:srgbClr val="C8EEFA"/>
                </a:solidFill>
              </a:rPr>
              <a:t>Apache Spark</a:t>
            </a:r>
            <a:endParaRPr lang="en-US" sz="900" dirty="0"/>
          </a:p>
        </p:txBody>
      </p:sp>
      <p:sp>
        <p:nvSpPr>
          <p:cNvPr id="25" name="Text 23"/>
          <p:cNvSpPr/>
          <p:nvPr/>
        </p:nvSpPr>
        <p:spPr>
          <a:xfrm>
            <a:off x="5074920" y="2240280"/>
            <a:ext cx="256032" cy="502920"/>
          </a:xfrm>
          <a:prstGeom prst="rect">
            <a:avLst/>
          </a:prstGeom>
          <a:noFill/>
          <a:ln/>
        </p:spPr>
        <p:txBody>
          <a:bodyPr wrap="square" lIns="0" tIns="0" rIns="0" bIns="0" rtlCol="0" anchor="ctr"/>
          <a:lstStyle/>
          <a:p>
            <a:pPr algn="ctr" indent="0" marL="0">
              <a:buNone/>
            </a:pPr>
            <a:r>
              <a:rPr lang="en-US" sz="1800" b="1" dirty="0">
                <a:solidFill>
                  <a:srgbClr val="1C7293"/>
                </a:solidFill>
              </a:rPr>
              <a:t>→</a:t>
            </a:r>
            <a:endParaRPr lang="en-US" sz="1800" dirty="0"/>
          </a:p>
        </p:txBody>
      </p:sp>
      <p:sp>
        <p:nvSpPr>
          <p:cNvPr id="26" name="Shape 24"/>
          <p:cNvSpPr/>
          <p:nvPr/>
        </p:nvSpPr>
        <p:spPr>
          <a:xfrm>
            <a:off x="5367528" y="1737360"/>
            <a:ext cx="1353312" cy="1463040"/>
          </a:xfrm>
          <a:prstGeom prst="rect">
            <a:avLst/>
          </a:prstGeom>
          <a:solidFill>
            <a:srgbClr val="02A896"/>
          </a:solidFill>
          <a:ln w="12700">
            <a:solidFill>
              <a:srgbClr val="02A896"/>
            </a:solidFill>
            <a:prstDash val="solid"/>
          </a:ln>
          <a:effectLst>
            <a:outerShdw sx="100000" sy="100000" kx="0" ky="0" algn="bl" rotWithShape="0" blurRad="101600" dist="38100" dir="8100000">
              <a:srgbClr val="000000">
                <a:alpha val="12000"/>
              </a:srgbClr>
            </a:outerShdw>
          </a:effectLst>
        </p:spPr>
      </p:sp>
      <p:sp>
        <p:nvSpPr>
          <p:cNvPr id="27" name="Shape 25"/>
          <p:cNvSpPr/>
          <p:nvPr/>
        </p:nvSpPr>
        <p:spPr>
          <a:xfrm>
            <a:off x="5861304" y="1828800"/>
            <a:ext cx="365760" cy="365760"/>
          </a:xfrm>
          <a:prstGeom prst="ellipse">
            <a:avLst/>
          </a:prstGeom>
          <a:solidFill>
            <a:srgbClr val="FFFFFF"/>
          </a:solidFill>
          <a:ln w="12700">
            <a:solidFill>
              <a:srgbClr val="FFFFFF"/>
            </a:solidFill>
            <a:prstDash val="solid"/>
          </a:ln>
        </p:spPr>
      </p:sp>
      <p:sp>
        <p:nvSpPr>
          <p:cNvPr id="28" name="Text 26"/>
          <p:cNvSpPr/>
          <p:nvPr/>
        </p:nvSpPr>
        <p:spPr>
          <a:xfrm>
            <a:off x="5861304" y="1828800"/>
            <a:ext cx="365760" cy="365760"/>
          </a:xfrm>
          <a:prstGeom prst="rect">
            <a:avLst/>
          </a:prstGeom>
          <a:noFill/>
          <a:ln/>
        </p:spPr>
        <p:txBody>
          <a:bodyPr wrap="square" lIns="0" tIns="0" rIns="0" bIns="0" rtlCol="0" anchor="ctr"/>
          <a:lstStyle/>
          <a:p>
            <a:pPr algn="ctr" indent="0" marL="0">
              <a:buNone/>
            </a:pPr>
            <a:r>
              <a:rPr lang="en-US" sz="1300" b="1" dirty="0">
                <a:solidFill>
                  <a:srgbClr val="02A896"/>
                </a:solidFill>
              </a:rPr>
              <a:t>4</a:t>
            </a:r>
            <a:endParaRPr lang="en-US" sz="1300" dirty="0"/>
          </a:p>
        </p:txBody>
      </p:sp>
      <p:sp>
        <p:nvSpPr>
          <p:cNvPr id="29" name="Text 27"/>
          <p:cNvSpPr/>
          <p:nvPr/>
        </p:nvSpPr>
        <p:spPr>
          <a:xfrm>
            <a:off x="5367528" y="2240280"/>
            <a:ext cx="1353312"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30" name="Text 28"/>
          <p:cNvSpPr/>
          <p:nvPr/>
        </p:nvSpPr>
        <p:spPr>
          <a:xfrm>
            <a:off x="5367528" y="2743200"/>
            <a:ext cx="1353312" cy="274320"/>
          </a:xfrm>
          <a:prstGeom prst="rect">
            <a:avLst/>
          </a:prstGeom>
          <a:noFill/>
          <a:ln/>
        </p:spPr>
        <p:txBody>
          <a:bodyPr wrap="square" lIns="0" tIns="0" rIns="0" bIns="0" rtlCol="0" anchor="ctr"/>
          <a:lstStyle/>
          <a:p>
            <a:pPr algn="ctr" indent="0" marL="0">
              <a:buNone/>
            </a:pPr>
            <a:r>
              <a:rPr lang="en-US" sz="1300" b="1" dirty="0">
                <a:solidFill>
                  <a:srgbClr val="FFFFFF"/>
                </a:solidFill>
              </a:rPr>
              <a:t>Warehouse</a:t>
            </a:r>
            <a:endParaRPr lang="en-US" sz="1300" dirty="0"/>
          </a:p>
        </p:txBody>
      </p:sp>
      <p:sp>
        <p:nvSpPr>
          <p:cNvPr id="31" name="Text 29"/>
          <p:cNvSpPr/>
          <p:nvPr/>
        </p:nvSpPr>
        <p:spPr>
          <a:xfrm>
            <a:off x="5367528" y="2999232"/>
            <a:ext cx="1353312" cy="201168"/>
          </a:xfrm>
          <a:prstGeom prst="rect">
            <a:avLst/>
          </a:prstGeom>
          <a:noFill/>
          <a:ln/>
        </p:spPr>
        <p:txBody>
          <a:bodyPr wrap="square" lIns="0" tIns="0" rIns="0" bIns="0" rtlCol="0" anchor="ctr"/>
          <a:lstStyle/>
          <a:p>
            <a:pPr algn="ctr" indent="0" marL="0">
              <a:buNone/>
            </a:pPr>
            <a:r>
              <a:rPr lang="en-US" sz="900" dirty="0">
                <a:solidFill>
                  <a:srgbClr val="C8EEFA"/>
                </a:solidFill>
              </a:rPr>
              <a:t>PostgreSQL</a:t>
            </a:r>
            <a:endParaRPr lang="en-US" sz="900" dirty="0"/>
          </a:p>
        </p:txBody>
      </p:sp>
      <p:sp>
        <p:nvSpPr>
          <p:cNvPr id="32" name="Text 30"/>
          <p:cNvSpPr/>
          <p:nvPr/>
        </p:nvSpPr>
        <p:spPr>
          <a:xfrm>
            <a:off x="6757416" y="2240280"/>
            <a:ext cx="256032" cy="502920"/>
          </a:xfrm>
          <a:prstGeom prst="rect">
            <a:avLst/>
          </a:prstGeom>
          <a:noFill/>
          <a:ln/>
        </p:spPr>
        <p:txBody>
          <a:bodyPr wrap="square" lIns="0" tIns="0" rIns="0" bIns="0" rtlCol="0" anchor="ctr"/>
          <a:lstStyle/>
          <a:p>
            <a:pPr algn="ctr" indent="0" marL="0">
              <a:buNone/>
            </a:pPr>
            <a:r>
              <a:rPr lang="en-US" sz="1800" b="1" dirty="0">
                <a:solidFill>
                  <a:srgbClr val="1C7293"/>
                </a:solidFill>
              </a:rPr>
              <a:t>→</a:t>
            </a:r>
            <a:endParaRPr lang="en-US" sz="1800" dirty="0"/>
          </a:p>
        </p:txBody>
      </p:sp>
      <p:sp>
        <p:nvSpPr>
          <p:cNvPr id="33" name="Shape 31"/>
          <p:cNvSpPr/>
          <p:nvPr/>
        </p:nvSpPr>
        <p:spPr>
          <a:xfrm>
            <a:off x="7050024" y="1737360"/>
            <a:ext cx="1353312" cy="1463040"/>
          </a:xfrm>
          <a:prstGeom prst="rect">
            <a:avLst/>
          </a:prstGeom>
          <a:solidFill>
            <a:srgbClr val="02C39A"/>
          </a:solidFill>
          <a:ln w="12700">
            <a:solidFill>
              <a:srgbClr val="02C39A"/>
            </a:solidFill>
            <a:prstDash val="solid"/>
          </a:ln>
          <a:effectLst>
            <a:outerShdw sx="100000" sy="100000" kx="0" ky="0" algn="bl" rotWithShape="0" blurRad="101600" dist="38100" dir="8100000">
              <a:srgbClr val="000000">
                <a:alpha val="12000"/>
              </a:srgbClr>
            </a:outerShdw>
          </a:effectLst>
        </p:spPr>
      </p:sp>
      <p:sp>
        <p:nvSpPr>
          <p:cNvPr id="34" name="Shape 32"/>
          <p:cNvSpPr/>
          <p:nvPr/>
        </p:nvSpPr>
        <p:spPr>
          <a:xfrm>
            <a:off x="7543800" y="1828800"/>
            <a:ext cx="365760" cy="365760"/>
          </a:xfrm>
          <a:prstGeom prst="ellipse">
            <a:avLst/>
          </a:prstGeom>
          <a:solidFill>
            <a:srgbClr val="FFFFFF"/>
          </a:solidFill>
          <a:ln w="12700">
            <a:solidFill>
              <a:srgbClr val="FFFFFF"/>
            </a:solidFill>
            <a:prstDash val="solid"/>
          </a:ln>
        </p:spPr>
      </p:sp>
      <p:sp>
        <p:nvSpPr>
          <p:cNvPr id="35" name="Text 33"/>
          <p:cNvSpPr/>
          <p:nvPr/>
        </p:nvSpPr>
        <p:spPr>
          <a:xfrm>
            <a:off x="7543800" y="1828800"/>
            <a:ext cx="365760" cy="365760"/>
          </a:xfrm>
          <a:prstGeom prst="rect">
            <a:avLst/>
          </a:prstGeom>
          <a:noFill/>
          <a:ln/>
        </p:spPr>
        <p:txBody>
          <a:bodyPr wrap="square" lIns="0" tIns="0" rIns="0" bIns="0" rtlCol="0" anchor="ctr"/>
          <a:lstStyle/>
          <a:p>
            <a:pPr algn="ctr" indent="0" marL="0">
              <a:buNone/>
            </a:pPr>
            <a:r>
              <a:rPr lang="en-US" sz="1300" b="1" dirty="0">
                <a:solidFill>
                  <a:srgbClr val="02C39A"/>
                </a:solidFill>
              </a:rPr>
              <a:t>5</a:t>
            </a:r>
            <a:endParaRPr lang="en-US" sz="1300" dirty="0"/>
          </a:p>
        </p:txBody>
      </p:sp>
      <p:sp>
        <p:nvSpPr>
          <p:cNvPr id="36" name="Text 34"/>
          <p:cNvSpPr/>
          <p:nvPr/>
        </p:nvSpPr>
        <p:spPr>
          <a:xfrm>
            <a:off x="7050024" y="2240280"/>
            <a:ext cx="1353312"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37" name="Text 35"/>
          <p:cNvSpPr/>
          <p:nvPr/>
        </p:nvSpPr>
        <p:spPr>
          <a:xfrm>
            <a:off x="7050024" y="2743200"/>
            <a:ext cx="1353312" cy="274320"/>
          </a:xfrm>
          <a:prstGeom prst="rect">
            <a:avLst/>
          </a:prstGeom>
          <a:noFill/>
          <a:ln/>
        </p:spPr>
        <p:txBody>
          <a:bodyPr wrap="square" lIns="0" tIns="0" rIns="0" bIns="0" rtlCol="0" anchor="ctr"/>
          <a:lstStyle/>
          <a:p>
            <a:pPr algn="ctr" indent="0" marL="0">
              <a:buNone/>
            </a:pPr>
            <a:r>
              <a:rPr lang="en-US" sz="1300" b="1" dirty="0">
                <a:solidFill>
                  <a:srgbClr val="FFFFFF"/>
                </a:solidFill>
              </a:rPr>
              <a:t>Dashboard</a:t>
            </a:r>
            <a:endParaRPr lang="en-US" sz="1300" dirty="0"/>
          </a:p>
        </p:txBody>
      </p:sp>
      <p:sp>
        <p:nvSpPr>
          <p:cNvPr id="38" name="Text 36"/>
          <p:cNvSpPr/>
          <p:nvPr/>
        </p:nvSpPr>
        <p:spPr>
          <a:xfrm>
            <a:off x="7050024" y="2999232"/>
            <a:ext cx="1353312" cy="201168"/>
          </a:xfrm>
          <a:prstGeom prst="rect">
            <a:avLst/>
          </a:prstGeom>
          <a:noFill/>
          <a:ln/>
        </p:spPr>
        <p:txBody>
          <a:bodyPr wrap="square" lIns="0" tIns="0" rIns="0" bIns="0" rtlCol="0" anchor="ctr"/>
          <a:lstStyle/>
          <a:p>
            <a:pPr algn="ctr" indent="0" marL="0">
              <a:buNone/>
            </a:pPr>
            <a:r>
              <a:rPr lang="en-US" sz="900" dirty="0">
                <a:solidFill>
                  <a:srgbClr val="C8EEFA"/>
                </a:solidFill>
              </a:rPr>
              <a:t>Streamlit</a:t>
            </a:r>
            <a:endParaRPr lang="en-US" sz="900" dirty="0"/>
          </a:p>
        </p:txBody>
      </p:sp>
      <p:sp>
        <p:nvSpPr>
          <p:cNvPr id="39" name="Shape 37"/>
          <p:cNvSpPr/>
          <p:nvPr/>
        </p:nvSpPr>
        <p:spPr>
          <a:xfrm>
            <a:off x="320040" y="3383280"/>
            <a:ext cx="8503920" cy="365760"/>
          </a:xfrm>
          <a:prstGeom prst="rect">
            <a:avLst/>
          </a:prstGeom>
          <a:solidFill>
            <a:srgbClr val="EBF5FA"/>
          </a:solidFill>
          <a:ln w="12700">
            <a:solidFill>
              <a:srgbClr val="D8EEF6"/>
            </a:solidFill>
            <a:prstDash val="solid"/>
          </a:ln>
        </p:spPr>
      </p:sp>
      <p:sp>
        <p:nvSpPr>
          <p:cNvPr id="40" name="Text 38"/>
          <p:cNvSpPr/>
          <p:nvPr/>
        </p:nvSpPr>
        <p:spPr>
          <a:xfrm>
            <a:off x="320040" y="3383280"/>
            <a:ext cx="8503920" cy="365760"/>
          </a:xfrm>
          <a:prstGeom prst="rect">
            <a:avLst/>
          </a:prstGeom>
          <a:noFill/>
          <a:ln/>
        </p:spPr>
        <p:txBody>
          <a:bodyPr wrap="square" lIns="0" tIns="101600" rIns="0" bIns="0" rtlCol="0" anchor="ctr"/>
          <a:lstStyle/>
          <a:p>
            <a:pPr indent="0" marL="0">
              <a:buNone/>
            </a:pPr>
            <a:r>
              <a:rPr lang="en-US" sz="1100" dirty="0">
                <a:solidFill>
                  <a:srgbClr val="2C5F7A"/>
                </a:solidFill>
              </a:rPr>
              <a:t>⏱  Orchestration : Apache Airflow déclenche automatiquement la collecte toutes les 15 minutes</a:t>
            </a:r>
            <a:endParaRPr lang="en-US" sz="1100" dirty="0"/>
          </a:p>
        </p:txBody>
      </p:sp>
      <p:sp>
        <p:nvSpPr>
          <p:cNvPr id="41" name="Text 39"/>
          <p:cNvSpPr/>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6B9DB5"/>
                </a:solidFill>
              </a:rPr>
              <a:t>Big Data B2 — Sup de Vinci</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F8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65A82"/>
          </a:solidFill>
          <a:ln w="12700">
            <a:solidFill>
              <a:srgbClr val="065A82"/>
            </a:solidFill>
            <a:prstDash val="solid"/>
          </a:ln>
        </p:spPr>
      </p:sp>
      <p:sp>
        <p:nvSpPr>
          <p:cNvPr id="3" name="Text 1"/>
          <p:cNvSpPr/>
          <p:nvPr/>
        </p:nvSpPr>
        <p:spPr>
          <a:xfrm>
            <a:off x="365760" y="0"/>
            <a:ext cx="8412480" cy="822960"/>
          </a:xfrm>
          <a:prstGeom prst="rect">
            <a:avLst/>
          </a:prstGeom>
          <a:noFill/>
          <a:ln/>
        </p:spPr>
        <p:txBody>
          <a:bodyPr wrap="square" lIns="0" tIns="0" rIns="0" bIns="0" rtlCol="0" anchor="ctr"/>
          <a:lstStyle/>
          <a:p>
            <a:pPr indent="0" marL="0">
              <a:buNone/>
            </a:pPr>
            <a:r>
              <a:rPr lang="en-US" sz="2200" b="1" dirty="0">
                <a:solidFill>
                  <a:srgbClr val="FFFFFF"/>
                </a:solidFill>
              </a:rPr>
              <a:t>Les sources de données</a:t>
            </a:r>
            <a:endParaRPr lang="en-US" sz="2200" dirty="0"/>
          </a:p>
        </p:txBody>
      </p:sp>
      <p:sp>
        <p:nvSpPr>
          <p:cNvPr id="4" name="Text 2"/>
          <p:cNvSpPr/>
          <p:nvPr/>
        </p:nvSpPr>
        <p:spPr>
          <a:xfrm>
            <a:off x="457200" y="914400"/>
            <a:ext cx="8229600" cy="640080"/>
          </a:xfrm>
          <a:prstGeom prst="rect">
            <a:avLst/>
          </a:prstGeom>
          <a:noFill/>
          <a:ln/>
        </p:spPr>
        <p:txBody>
          <a:bodyPr wrap="square" rtlCol="0" anchor="ctr"/>
          <a:lstStyle/>
          <a:p>
            <a:pPr indent="0" marL="0">
              <a:buNone/>
            </a:pPr>
            <a:r>
              <a:rPr lang="en-US" sz="1300" dirty="0">
                <a:solidFill>
                  <a:srgbClr val="2C5F7A"/>
                </a:solidFill>
              </a:rPr>
              <a:t>Le projet exploite trois sources complémentaires pour alimenter le tableau de bord. Deux d'entre elles sont des APIs publiques interrogées en direct ; la troisième est collectée par scraping web.</a:t>
            </a:r>
            <a:endParaRPr lang="en-US" sz="1300" dirty="0"/>
          </a:p>
        </p:txBody>
      </p:sp>
      <p:sp>
        <p:nvSpPr>
          <p:cNvPr id="5" name="Shape 3"/>
          <p:cNvSpPr/>
          <p:nvPr/>
        </p:nvSpPr>
        <p:spPr>
          <a:xfrm>
            <a:off x="320040" y="1691640"/>
            <a:ext cx="2743200" cy="283464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20040" y="1691640"/>
            <a:ext cx="2743200" cy="502920"/>
          </a:xfrm>
          <a:prstGeom prst="rect">
            <a:avLst/>
          </a:prstGeom>
          <a:solidFill>
            <a:srgbClr val="065A82"/>
          </a:solidFill>
          <a:ln w="12700">
            <a:solidFill>
              <a:srgbClr val="065A82"/>
            </a:solidFill>
            <a:prstDash val="solid"/>
          </a:ln>
        </p:spPr>
      </p:sp>
      <p:sp>
        <p:nvSpPr>
          <p:cNvPr id="7" name="Text 5"/>
          <p:cNvSpPr/>
          <p:nvPr/>
        </p:nvSpPr>
        <p:spPr>
          <a:xfrm>
            <a:off x="320040" y="1691640"/>
            <a:ext cx="64008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8" name="Text 6"/>
          <p:cNvSpPr/>
          <p:nvPr/>
        </p:nvSpPr>
        <p:spPr>
          <a:xfrm>
            <a:off x="914400" y="1691640"/>
            <a:ext cx="2057400" cy="320040"/>
          </a:xfrm>
          <a:prstGeom prst="rect">
            <a:avLst/>
          </a:prstGeom>
          <a:noFill/>
          <a:ln/>
        </p:spPr>
        <p:txBody>
          <a:bodyPr wrap="square" lIns="0" tIns="0" rIns="0" bIns="0" rtlCol="0" anchor="ctr"/>
          <a:lstStyle/>
          <a:p>
            <a:pPr indent="0" marL="0">
              <a:buNone/>
            </a:pPr>
            <a:r>
              <a:rPr lang="en-US" sz="1400" b="1" dirty="0">
                <a:solidFill>
                  <a:srgbClr val="FFFFFF"/>
                </a:solidFill>
              </a:rPr>
              <a:t>Citedia API</a:t>
            </a:r>
            <a:endParaRPr lang="en-US" sz="1400" dirty="0"/>
          </a:p>
        </p:txBody>
      </p:sp>
      <p:sp>
        <p:nvSpPr>
          <p:cNvPr id="9" name="Text 7"/>
          <p:cNvSpPr/>
          <p:nvPr/>
        </p:nvSpPr>
        <p:spPr>
          <a:xfrm>
            <a:off x="914400" y="2011680"/>
            <a:ext cx="2057400" cy="182880"/>
          </a:xfrm>
          <a:prstGeom prst="rect">
            <a:avLst/>
          </a:prstGeom>
          <a:noFill/>
          <a:ln/>
        </p:spPr>
        <p:txBody>
          <a:bodyPr wrap="square" lIns="0" tIns="0" rIns="0" bIns="0" rtlCol="0" anchor="ctr"/>
          <a:lstStyle/>
          <a:p>
            <a:pPr indent="0" marL="0">
              <a:buNone/>
            </a:pPr>
            <a:r>
              <a:rPr lang="en-US" sz="800" dirty="0">
                <a:solidFill>
                  <a:srgbClr val="C8EEFA"/>
                </a:solidFill>
              </a:rPr>
              <a:t>API REST</a:t>
            </a:r>
            <a:endParaRPr lang="en-US" sz="800" dirty="0"/>
          </a:p>
        </p:txBody>
      </p:sp>
      <p:sp>
        <p:nvSpPr>
          <p:cNvPr id="10" name="Text 8"/>
          <p:cNvSpPr/>
          <p:nvPr/>
        </p:nvSpPr>
        <p:spPr>
          <a:xfrm>
            <a:off x="411480" y="2286000"/>
            <a:ext cx="2560320" cy="228600"/>
          </a:xfrm>
          <a:prstGeom prst="rect">
            <a:avLst/>
          </a:prstGeom>
          <a:noFill/>
          <a:ln/>
        </p:spPr>
        <p:txBody>
          <a:bodyPr wrap="square" lIns="0" tIns="0" rIns="0" bIns="0" rtlCol="0" anchor="ctr"/>
          <a:lstStyle/>
          <a:p>
            <a:pPr indent="0" marL="0">
              <a:buNone/>
            </a:pPr>
            <a:r>
              <a:rPr lang="en-US" sz="900" i="1" dirty="0">
                <a:solidFill>
                  <a:srgbClr val="6B9DB5"/>
                </a:solidFill>
              </a:rPr>
              <a:t>data.citedia.com</a:t>
            </a:r>
            <a:endParaRPr lang="en-US" sz="900" dirty="0"/>
          </a:p>
        </p:txBody>
      </p:sp>
      <p:sp>
        <p:nvSpPr>
          <p:cNvPr id="11" name="Text 9"/>
          <p:cNvSpPr/>
          <p:nvPr/>
        </p:nvSpPr>
        <p:spPr>
          <a:xfrm>
            <a:off x="411480" y="2542032"/>
            <a:ext cx="2560320" cy="1920240"/>
          </a:xfrm>
          <a:prstGeom prst="rect">
            <a:avLst/>
          </a:prstGeom>
          <a:noFill/>
          <a:ln/>
        </p:spPr>
        <p:txBody>
          <a:bodyPr wrap="square" lIns="0" tIns="0" rIns="0" bIns="0" rtlCol="0" anchor="ctr"/>
          <a:lstStyle/>
          <a:p>
            <a:pPr indent="0" marL="0">
              <a:buNone/>
            </a:pPr>
            <a:r>
              <a:rPr lang="en-US" sz="1100" dirty="0">
                <a:solidFill>
                  <a:srgbClr val="0D2D3E"/>
                </a:solidFill>
              </a:rPr>
              <a:t>Fournit en temps réel le nombre de places libres et occupées dans les parkings couverts de Rennes Métropole. Les données incluent la capacité totale, le taux d'occupation, et les statuts spéciaux (PMR, covoiturage, véhicules électriques).</a:t>
            </a:r>
            <a:endParaRPr lang="en-US" sz="1100" dirty="0"/>
          </a:p>
        </p:txBody>
      </p:sp>
      <p:sp>
        <p:nvSpPr>
          <p:cNvPr id="12" name="Shape 10"/>
          <p:cNvSpPr/>
          <p:nvPr/>
        </p:nvSpPr>
        <p:spPr>
          <a:xfrm>
            <a:off x="3246120" y="1691640"/>
            <a:ext cx="2743200" cy="283464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3246120" y="1691640"/>
            <a:ext cx="2743200" cy="502920"/>
          </a:xfrm>
          <a:prstGeom prst="rect">
            <a:avLst/>
          </a:prstGeom>
          <a:solidFill>
            <a:srgbClr val="1C7293"/>
          </a:solidFill>
          <a:ln w="12700">
            <a:solidFill>
              <a:srgbClr val="1C7293"/>
            </a:solidFill>
            <a:prstDash val="solid"/>
          </a:ln>
        </p:spPr>
      </p:sp>
      <p:sp>
        <p:nvSpPr>
          <p:cNvPr id="14" name="Text 12"/>
          <p:cNvSpPr/>
          <p:nvPr/>
        </p:nvSpPr>
        <p:spPr>
          <a:xfrm>
            <a:off x="3246120" y="1691640"/>
            <a:ext cx="64008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5" name="Text 13"/>
          <p:cNvSpPr/>
          <p:nvPr/>
        </p:nvSpPr>
        <p:spPr>
          <a:xfrm>
            <a:off x="3840480" y="1691640"/>
            <a:ext cx="2057400" cy="320040"/>
          </a:xfrm>
          <a:prstGeom prst="rect">
            <a:avLst/>
          </a:prstGeom>
          <a:noFill/>
          <a:ln/>
        </p:spPr>
        <p:txBody>
          <a:bodyPr wrap="square" lIns="0" tIns="0" rIns="0" bIns="0" rtlCol="0" anchor="ctr"/>
          <a:lstStyle/>
          <a:p>
            <a:pPr indent="0" marL="0">
              <a:buNone/>
            </a:pPr>
            <a:r>
              <a:rPr lang="en-US" sz="1400" b="1" dirty="0">
                <a:solidFill>
                  <a:srgbClr val="FFFFFF"/>
                </a:solidFill>
              </a:rPr>
              <a:t>STAR API</a:t>
            </a:r>
            <a:endParaRPr lang="en-US" sz="1400" dirty="0"/>
          </a:p>
        </p:txBody>
      </p:sp>
      <p:sp>
        <p:nvSpPr>
          <p:cNvPr id="16" name="Text 14"/>
          <p:cNvSpPr/>
          <p:nvPr/>
        </p:nvSpPr>
        <p:spPr>
          <a:xfrm>
            <a:off x="3840480" y="2011680"/>
            <a:ext cx="2057400" cy="182880"/>
          </a:xfrm>
          <a:prstGeom prst="rect">
            <a:avLst/>
          </a:prstGeom>
          <a:noFill/>
          <a:ln/>
        </p:spPr>
        <p:txBody>
          <a:bodyPr wrap="square" lIns="0" tIns="0" rIns="0" bIns="0" rtlCol="0" anchor="ctr"/>
          <a:lstStyle/>
          <a:p>
            <a:pPr indent="0" marL="0">
              <a:buNone/>
            </a:pPr>
            <a:r>
              <a:rPr lang="en-US" sz="800" dirty="0">
                <a:solidFill>
                  <a:srgbClr val="C8EEFA"/>
                </a:solidFill>
              </a:rPr>
              <a:t>API REST</a:t>
            </a:r>
            <a:endParaRPr lang="en-US" sz="800" dirty="0"/>
          </a:p>
        </p:txBody>
      </p:sp>
      <p:sp>
        <p:nvSpPr>
          <p:cNvPr id="17" name="Text 15"/>
          <p:cNvSpPr/>
          <p:nvPr/>
        </p:nvSpPr>
        <p:spPr>
          <a:xfrm>
            <a:off x="3337560" y="2286000"/>
            <a:ext cx="2560320" cy="228600"/>
          </a:xfrm>
          <a:prstGeom prst="rect">
            <a:avLst/>
          </a:prstGeom>
          <a:noFill/>
          <a:ln/>
        </p:spPr>
        <p:txBody>
          <a:bodyPr wrap="square" lIns="0" tIns="0" rIns="0" bIns="0" rtlCol="0" anchor="ctr"/>
          <a:lstStyle/>
          <a:p>
            <a:pPr indent="0" marL="0">
              <a:buNone/>
            </a:pPr>
            <a:r>
              <a:rPr lang="en-US" sz="900" i="1" dirty="0">
                <a:solidFill>
                  <a:srgbClr val="6B9DB5"/>
                </a:solidFill>
              </a:rPr>
              <a:t>data.explore.star.fr</a:t>
            </a:r>
            <a:endParaRPr lang="en-US" sz="900" dirty="0"/>
          </a:p>
        </p:txBody>
      </p:sp>
      <p:sp>
        <p:nvSpPr>
          <p:cNvPr id="18" name="Text 16"/>
          <p:cNvSpPr/>
          <p:nvPr/>
        </p:nvSpPr>
        <p:spPr>
          <a:xfrm>
            <a:off x="3337560" y="2542032"/>
            <a:ext cx="2560320" cy="1920240"/>
          </a:xfrm>
          <a:prstGeom prst="rect">
            <a:avLst/>
          </a:prstGeom>
          <a:noFill/>
          <a:ln/>
        </p:spPr>
        <p:txBody>
          <a:bodyPr wrap="square" lIns="0" tIns="0" rIns="0" bIns="0" rtlCol="0" anchor="ctr"/>
          <a:lstStyle/>
          <a:p>
            <a:pPr indent="0" marL="0">
              <a:buNone/>
            </a:pPr>
            <a:r>
              <a:rPr lang="en-US" sz="1100" dirty="0">
                <a:solidFill>
                  <a:srgbClr val="0D2D3E"/>
                </a:solidFill>
              </a:rPr>
              <a:t>API du réseau de transport rennais, exploitée ici pour les stations de vélos en libre-service. Elle renseigne sur la disponibilité des vélos et des bornes de recharge à chaque station.</a:t>
            </a:r>
            <a:endParaRPr lang="en-US" sz="1100" dirty="0"/>
          </a:p>
        </p:txBody>
      </p:sp>
      <p:sp>
        <p:nvSpPr>
          <p:cNvPr id="19" name="Shape 17"/>
          <p:cNvSpPr/>
          <p:nvPr/>
        </p:nvSpPr>
        <p:spPr>
          <a:xfrm>
            <a:off x="6172200" y="1691640"/>
            <a:ext cx="2743200" cy="283464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6172200" y="1691640"/>
            <a:ext cx="2743200" cy="502920"/>
          </a:xfrm>
          <a:prstGeom prst="rect">
            <a:avLst/>
          </a:prstGeom>
          <a:solidFill>
            <a:srgbClr val="028090"/>
          </a:solidFill>
          <a:ln w="12700">
            <a:solidFill>
              <a:srgbClr val="028090"/>
            </a:solidFill>
            <a:prstDash val="solid"/>
          </a:ln>
        </p:spPr>
      </p:sp>
      <p:sp>
        <p:nvSpPr>
          <p:cNvPr id="21" name="Text 19"/>
          <p:cNvSpPr/>
          <p:nvPr/>
        </p:nvSpPr>
        <p:spPr>
          <a:xfrm>
            <a:off x="6172200" y="1691640"/>
            <a:ext cx="64008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2" name="Text 20"/>
          <p:cNvSpPr/>
          <p:nvPr/>
        </p:nvSpPr>
        <p:spPr>
          <a:xfrm>
            <a:off x="6766560" y="1691640"/>
            <a:ext cx="2057400" cy="320040"/>
          </a:xfrm>
          <a:prstGeom prst="rect">
            <a:avLst/>
          </a:prstGeom>
          <a:noFill/>
          <a:ln/>
        </p:spPr>
        <p:txBody>
          <a:bodyPr wrap="square" lIns="0" tIns="0" rIns="0" bIns="0" rtlCol="0" anchor="ctr"/>
          <a:lstStyle/>
          <a:p>
            <a:pPr indent="0" marL="0">
              <a:buNone/>
            </a:pPr>
            <a:r>
              <a:rPr lang="en-US" sz="1400" b="1" dirty="0">
                <a:solidFill>
                  <a:srgbClr val="FFFFFF"/>
                </a:solidFill>
              </a:rPr>
              <a:t>wttr.in</a:t>
            </a:r>
            <a:endParaRPr lang="en-US" sz="1400" dirty="0"/>
          </a:p>
        </p:txBody>
      </p:sp>
      <p:sp>
        <p:nvSpPr>
          <p:cNvPr id="23" name="Text 21"/>
          <p:cNvSpPr/>
          <p:nvPr/>
        </p:nvSpPr>
        <p:spPr>
          <a:xfrm>
            <a:off x="6766560" y="2011680"/>
            <a:ext cx="2057400" cy="182880"/>
          </a:xfrm>
          <a:prstGeom prst="rect">
            <a:avLst/>
          </a:prstGeom>
          <a:noFill/>
          <a:ln/>
        </p:spPr>
        <p:txBody>
          <a:bodyPr wrap="square" lIns="0" tIns="0" rIns="0" bIns="0" rtlCol="0" anchor="ctr"/>
          <a:lstStyle/>
          <a:p>
            <a:pPr indent="0" marL="0">
              <a:buNone/>
            </a:pPr>
            <a:r>
              <a:rPr lang="en-US" sz="800" dirty="0">
                <a:solidFill>
                  <a:srgbClr val="C8EEFA"/>
                </a:solidFill>
              </a:rPr>
              <a:t>Scraping web</a:t>
            </a:r>
            <a:endParaRPr lang="en-US" sz="800" dirty="0"/>
          </a:p>
        </p:txBody>
      </p:sp>
      <p:sp>
        <p:nvSpPr>
          <p:cNvPr id="24" name="Text 22"/>
          <p:cNvSpPr/>
          <p:nvPr/>
        </p:nvSpPr>
        <p:spPr>
          <a:xfrm>
            <a:off x="6263640" y="2286000"/>
            <a:ext cx="2560320" cy="228600"/>
          </a:xfrm>
          <a:prstGeom prst="rect">
            <a:avLst/>
          </a:prstGeom>
          <a:noFill/>
          <a:ln/>
        </p:spPr>
        <p:txBody>
          <a:bodyPr wrap="square" lIns="0" tIns="0" rIns="0" bIns="0" rtlCol="0" anchor="ctr"/>
          <a:lstStyle/>
          <a:p>
            <a:pPr indent="0" marL="0">
              <a:buNone/>
            </a:pPr>
            <a:r>
              <a:rPr lang="en-US" sz="900" i="1" dirty="0">
                <a:solidFill>
                  <a:srgbClr val="6B9DB5"/>
                </a:solidFill>
              </a:rPr>
              <a:t>wttr.in</a:t>
            </a:r>
            <a:endParaRPr lang="en-US" sz="900" dirty="0"/>
          </a:p>
        </p:txBody>
      </p:sp>
      <p:sp>
        <p:nvSpPr>
          <p:cNvPr id="25" name="Text 23"/>
          <p:cNvSpPr/>
          <p:nvPr/>
        </p:nvSpPr>
        <p:spPr>
          <a:xfrm>
            <a:off x="6263640" y="2542032"/>
            <a:ext cx="2560320" cy="1920240"/>
          </a:xfrm>
          <a:prstGeom prst="rect">
            <a:avLst/>
          </a:prstGeom>
          <a:noFill/>
          <a:ln/>
        </p:spPr>
        <p:txBody>
          <a:bodyPr wrap="square" lIns="0" tIns="0" rIns="0" bIns="0" rtlCol="0" anchor="ctr"/>
          <a:lstStyle/>
          <a:p>
            <a:pPr indent="0" marL="0">
              <a:buNone/>
            </a:pPr>
            <a:r>
              <a:rPr lang="en-US" sz="1100" dirty="0">
                <a:solidFill>
                  <a:srgbClr val="0D2D3E"/>
                </a:solidFill>
              </a:rPr>
              <a:t>Service météo public dont les données sont extraites par scraping. On y récupère la température, l'humidité, la vitesse du vent et la description météo de Rennes, pour enrichir chaque snapshot de disponibilité.</a:t>
            </a:r>
            <a:endParaRPr lang="en-US" sz="1100" dirty="0"/>
          </a:p>
        </p:txBody>
      </p:sp>
      <p:sp>
        <p:nvSpPr>
          <p:cNvPr id="26" name="Text 24"/>
          <p:cNvSpPr/>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6B9DB5"/>
                </a:solidFill>
              </a:rPr>
              <a:t>Big Data B2 — Sup de Vinci</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F8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65A82"/>
          </a:solidFill>
          <a:ln w="12700">
            <a:solidFill>
              <a:srgbClr val="065A82"/>
            </a:solidFill>
            <a:prstDash val="solid"/>
          </a:ln>
        </p:spPr>
      </p:sp>
      <p:sp>
        <p:nvSpPr>
          <p:cNvPr id="3" name="Text 1"/>
          <p:cNvSpPr/>
          <p:nvPr/>
        </p:nvSpPr>
        <p:spPr>
          <a:xfrm>
            <a:off x="365760" y="0"/>
            <a:ext cx="8412480" cy="822960"/>
          </a:xfrm>
          <a:prstGeom prst="rect">
            <a:avLst/>
          </a:prstGeom>
          <a:noFill/>
          <a:ln/>
        </p:spPr>
        <p:txBody>
          <a:bodyPr wrap="square" lIns="0" tIns="0" rIns="0" bIns="0" rtlCol="0" anchor="ctr"/>
          <a:lstStyle/>
          <a:p>
            <a:pPr indent="0" marL="0">
              <a:buNone/>
            </a:pPr>
            <a:r>
              <a:rPr lang="en-US" sz="2200" b="1" dirty="0">
                <a:solidFill>
                  <a:srgbClr val="FFFFFF"/>
                </a:solidFill>
              </a:rPr>
              <a:t>Étape 1 — Collecte et orchestration</a:t>
            </a:r>
            <a:endParaRPr lang="en-US" sz="2200" dirty="0"/>
          </a:p>
        </p:txBody>
      </p:sp>
      <p:sp>
        <p:nvSpPr>
          <p:cNvPr id="4" name="Text 2"/>
          <p:cNvSpPr/>
          <p:nvPr/>
        </p:nvSpPr>
        <p:spPr>
          <a:xfrm>
            <a:off x="457200" y="914400"/>
            <a:ext cx="8229600" cy="685800"/>
          </a:xfrm>
          <a:prstGeom prst="rect">
            <a:avLst/>
          </a:prstGeom>
          <a:noFill/>
          <a:ln/>
        </p:spPr>
        <p:txBody>
          <a:bodyPr wrap="square" rtlCol="0" anchor="ctr"/>
          <a:lstStyle/>
          <a:p>
            <a:pPr indent="0" marL="0">
              <a:buNone/>
            </a:pPr>
            <a:r>
              <a:rPr lang="en-US" sz="1300" dirty="0">
                <a:solidFill>
                  <a:srgbClr val="2C5F7A"/>
                </a:solidFill>
              </a:rPr>
              <a:t>Un script Python central interroge les trois sources à intervalles réguliers. C'est Apache Airflow qui joue le rôle de chef d'orchestre : il déclenche automatiquement ce script toutes les 15 minutes, comme une alarme programmée.</a:t>
            </a:r>
            <a:endParaRPr lang="en-US" sz="1300" dirty="0"/>
          </a:p>
        </p:txBody>
      </p:sp>
      <p:sp>
        <p:nvSpPr>
          <p:cNvPr id="5" name="Shape 3"/>
          <p:cNvSpPr/>
          <p:nvPr/>
        </p:nvSpPr>
        <p:spPr>
          <a:xfrm>
            <a:off x="320040" y="1737360"/>
            <a:ext cx="4023360" cy="283464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20040" y="1737360"/>
            <a:ext cx="4023360" cy="411480"/>
          </a:xfrm>
          <a:prstGeom prst="rect">
            <a:avLst/>
          </a:prstGeom>
          <a:solidFill>
            <a:srgbClr val="065A82"/>
          </a:solidFill>
          <a:ln w="12700">
            <a:solidFill>
              <a:srgbClr val="065A82"/>
            </a:solidFill>
            <a:prstDash val="solid"/>
          </a:ln>
        </p:spPr>
      </p:sp>
      <p:sp>
        <p:nvSpPr>
          <p:cNvPr id="7" name="Text 5"/>
          <p:cNvSpPr/>
          <p:nvPr/>
        </p:nvSpPr>
        <p:spPr>
          <a:xfrm>
            <a:off x="411480" y="1737360"/>
            <a:ext cx="3840480" cy="411480"/>
          </a:xfrm>
          <a:prstGeom prst="rect">
            <a:avLst/>
          </a:prstGeom>
          <a:noFill/>
          <a:ln/>
        </p:spPr>
        <p:txBody>
          <a:bodyPr wrap="square" lIns="0" tIns="0" rIns="0" bIns="0" rtlCol="0" anchor="ctr"/>
          <a:lstStyle/>
          <a:p>
            <a:pPr indent="0" marL="0">
              <a:buNone/>
            </a:pPr>
            <a:r>
              <a:rPr lang="en-US" sz="1300" b="1" dirty="0">
                <a:solidFill>
                  <a:srgbClr val="FFFFFF"/>
                </a:solidFill>
              </a:rPr>
              <a:t>🐍  Python — le collecteur</a:t>
            </a:r>
            <a:endParaRPr lang="en-US" sz="1300" dirty="0"/>
          </a:p>
        </p:txBody>
      </p:sp>
      <p:sp>
        <p:nvSpPr>
          <p:cNvPr id="8" name="Shape 6"/>
          <p:cNvSpPr/>
          <p:nvPr/>
        </p:nvSpPr>
        <p:spPr>
          <a:xfrm>
            <a:off x="438912" y="2286000"/>
            <a:ext cx="64008" cy="64008"/>
          </a:xfrm>
          <a:prstGeom prst="ellipse">
            <a:avLst/>
          </a:prstGeom>
          <a:solidFill>
            <a:srgbClr val="02C39A"/>
          </a:solidFill>
          <a:ln w="12700">
            <a:solidFill>
              <a:srgbClr val="02C39A"/>
            </a:solidFill>
            <a:prstDash val="solid"/>
          </a:ln>
        </p:spPr>
      </p:sp>
      <p:sp>
        <p:nvSpPr>
          <p:cNvPr id="9" name="Text 7"/>
          <p:cNvSpPr/>
          <p:nvPr/>
        </p:nvSpPr>
        <p:spPr>
          <a:xfrm>
            <a:off x="594360" y="2231136"/>
            <a:ext cx="3657600" cy="384048"/>
          </a:xfrm>
          <a:prstGeom prst="rect">
            <a:avLst/>
          </a:prstGeom>
          <a:noFill/>
          <a:ln/>
        </p:spPr>
        <p:txBody>
          <a:bodyPr wrap="square" lIns="0" tIns="0" rIns="0" bIns="0" rtlCol="0" anchor="ctr"/>
          <a:lstStyle/>
          <a:p>
            <a:pPr indent="0" marL="0">
              <a:buNone/>
            </a:pPr>
            <a:r>
              <a:rPr lang="en-US" sz="1100" dirty="0">
                <a:solidFill>
                  <a:srgbClr val="0D2D3E"/>
                </a:solidFill>
              </a:rPr>
              <a:t>Appelle l'API Citedia pour récupérer les places de parking</a:t>
            </a:r>
            <a:endParaRPr lang="en-US" sz="1100" dirty="0"/>
          </a:p>
        </p:txBody>
      </p:sp>
      <p:sp>
        <p:nvSpPr>
          <p:cNvPr id="10" name="Shape 8"/>
          <p:cNvSpPr/>
          <p:nvPr/>
        </p:nvSpPr>
        <p:spPr>
          <a:xfrm>
            <a:off x="438912" y="2724912"/>
            <a:ext cx="64008" cy="64008"/>
          </a:xfrm>
          <a:prstGeom prst="ellipse">
            <a:avLst/>
          </a:prstGeom>
          <a:solidFill>
            <a:srgbClr val="02C39A"/>
          </a:solidFill>
          <a:ln w="12700">
            <a:solidFill>
              <a:srgbClr val="02C39A"/>
            </a:solidFill>
            <a:prstDash val="solid"/>
          </a:ln>
        </p:spPr>
      </p:sp>
      <p:sp>
        <p:nvSpPr>
          <p:cNvPr id="11" name="Text 9"/>
          <p:cNvSpPr/>
          <p:nvPr/>
        </p:nvSpPr>
        <p:spPr>
          <a:xfrm>
            <a:off x="594360" y="2670048"/>
            <a:ext cx="3657600" cy="384048"/>
          </a:xfrm>
          <a:prstGeom prst="rect">
            <a:avLst/>
          </a:prstGeom>
          <a:noFill/>
          <a:ln/>
        </p:spPr>
        <p:txBody>
          <a:bodyPr wrap="square" lIns="0" tIns="0" rIns="0" bIns="0" rtlCol="0" anchor="ctr"/>
          <a:lstStyle/>
          <a:p>
            <a:pPr indent="0" marL="0">
              <a:buNone/>
            </a:pPr>
            <a:r>
              <a:rPr lang="en-US" sz="1100" dirty="0">
                <a:solidFill>
                  <a:srgbClr val="0D2D3E"/>
                </a:solidFill>
              </a:rPr>
              <a:t>Appelle l'API STAR pour les stations vélos</a:t>
            </a:r>
            <a:endParaRPr lang="en-US" sz="1100" dirty="0"/>
          </a:p>
        </p:txBody>
      </p:sp>
      <p:sp>
        <p:nvSpPr>
          <p:cNvPr id="12" name="Shape 10"/>
          <p:cNvSpPr/>
          <p:nvPr/>
        </p:nvSpPr>
        <p:spPr>
          <a:xfrm>
            <a:off x="438912" y="3163824"/>
            <a:ext cx="64008" cy="64008"/>
          </a:xfrm>
          <a:prstGeom prst="ellipse">
            <a:avLst/>
          </a:prstGeom>
          <a:solidFill>
            <a:srgbClr val="02C39A"/>
          </a:solidFill>
          <a:ln w="12700">
            <a:solidFill>
              <a:srgbClr val="02C39A"/>
            </a:solidFill>
            <a:prstDash val="solid"/>
          </a:ln>
        </p:spPr>
      </p:sp>
      <p:sp>
        <p:nvSpPr>
          <p:cNvPr id="13" name="Text 11"/>
          <p:cNvSpPr/>
          <p:nvPr/>
        </p:nvSpPr>
        <p:spPr>
          <a:xfrm>
            <a:off x="594360" y="3108960"/>
            <a:ext cx="3657600" cy="384048"/>
          </a:xfrm>
          <a:prstGeom prst="rect">
            <a:avLst/>
          </a:prstGeom>
          <a:noFill/>
          <a:ln/>
        </p:spPr>
        <p:txBody>
          <a:bodyPr wrap="square" lIns="0" tIns="0" rIns="0" bIns="0" rtlCol="0" anchor="ctr"/>
          <a:lstStyle/>
          <a:p>
            <a:pPr indent="0" marL="0">
              <a:buNone/>
            </a:pPr>
            <a:r>
              <a:rPr lang="en-US" sz="1100" dirty="0">
                <a:solidFill>
                  <a:srgbClr val="0D2D3E"/>
                </a:solidFill>
              </a:rPr>
              <a:t>Visite wttr.in pour extraire la météo (scraping)</a:t>
            </a:r>
            <a:endParaRPr lang="en-US" sz="1100" dirty="0"/>
          </a:p>
        </p:txBody>
      </p:sp>
      <p:sp>
        <p:nvSpPr>
          <p:cNvPr id="14" name="Shape 12"/>
          <p:cNvSpPr/>
          <p:nvPr/>
        </p:nvSpPr>
        <p:spPr>
          <a:xfrm>
            <a:off x="438912" y="3602736"/>
            <a:ext cx="64008" cy="64008"/>
          </a:xfrm>
          <a:prstGeom prst="ellipse">
            <a:avLst/>
          </a:prstGeom>
          <a:solidFill>
            <a:srgbClr val="02C39A"/>
          </a:solidFill>
          <a:ln w="12700">
            <a:solidFill>
              <a:srgbClr val="02C39A"/>
            </a:solidFill>
            <a:prstDash val="solid"/>
          </a:ln>
        </p:spPr>
      </p:sp>
      <p:sp>
        <p:nvSpPr>
          <p:cNvPr id="15" name="Text 13"/>
          <p:cNvSpPr/>
          <p:nvPr/>
        </p:nvSpPr>
        <p:spPr>
          <a:xfrm>
            <a:off x="594360" y="3547872"/>
            <a:ext cx="3657600" cy="384048"/>
          </a:xfrm>
          <a:prstGeom prst="rect">
            <a:avLst/>
          </a:prstGeom>
          <a:noFill/>
          <a:ln/>
        </p:spPr>
        <p:txBody>
          <a:bodyPr wrap="square" lIns="0" tIns="0" rIns="0" bIns="0" rtlCol="0" anchor="ctr"/>
          <a:lstStyle/>
          <a:p>
            <a:pPr indent="0" marL="0">
              <a:buNone/>
            </a:pPr>
            <a:r>
              <a:rPr lang="en-US" sz="1100" dirty="0">
                <a:solidFill>
                  <a:srgbClr val="0D2D3E"/>
                </a:solidFill>
              </a:rPr>
              <a:t>Formate toutes ces données dans un format uniforme</a:t>
            </a:r>
            <a:endParaRPr lang="en-US" sz="1100" dirty="0"/>
          </a:p>
        </p:txBody>
      </p:sp>
      <p:sp>
        <p:nvSpPr>
          <p:cNvPr id="16" name="Shape 14"/>
          <p:cNvSpPr/>
          <p:nvPr/>
        </p:nvSpPr>
        <p:spPr>
          <a:xfrm>
            <a:off x="438912" y="4041648"/>
            <a:ext cx="64008" cy="64008"/>
          </a:xfrm>
          <a:prstGeom prst="ellipse">
            <a:avLst/>
          </a:prstGeom>
          <a:solidFill>
            <a:srgbClr val="02C39A"/>
          </a:solidFill>
          <a:ln w="12700">
            <a:solidFill>
              <a:srgbClr val="02C39A"/>
            </a:solidFill>
            <a:prstDash val="solid"/>
          </a:ln>
        </p:spPr>
      </p:sp>
      <p:sp>
        <p:nvSpPr>
          <p:cNvPr id="17" name="Text 15"/>
          <p:cNvSpPr/>
          <p:nvPr/>
        </p:nvSpPr>
        <p:spPr>
          <a:xfrm>
            <a:off x="594360" y="3986784"/>
            <a:ext cx="3657600" cy="384048"/>
          </a:xfrm>
          <a:prstGeom prst="rect">
            <a:avLst/>
          </a:prstGeom>
          <a:noFill/>
          <a:ln/>
        </p:spPr>
        <p:txBody>
          <a:bodyPr wrap="square" lIns="0" tIns="0" rIns="0" bIns="0" rtlCol="0" anchor="ctr"/>
          <a:lstStyle/>
          <a:p>
            <a:pPr indent="0" marL="0">
              <a:buNone/>
            </a:pPr>
            <a:r>
              <a:rPr lang="en-US" sz="1100" dirty="0">
                <a:solidFill>
                  <a:srgbClr val="0D2D3E"/>
                </a:solidFill>
              </a:rPr>
              <a:t>Envoie les données vers MinIO et PostgreSQL</a:t>
            </a:r>
            <a:endParaRPr lang="en-US" sz="1100" dirty="0"/>
          </a:p>
        </p:txBody>
      </p:sp>
      <p:sp>
        <p:nvSpPr>
          <p:cNvPr id="18" name="Shape 16"/>
          <p:cNvSpPr/>
          <p:nvPr/>
        </p:nvSpPr>
        <p:spPr>
          <a:xfrm>
            <a:off x="4800600" y="1737360"/>
            <a:ext cx="4023360" cy="283464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4800600" y="1737360"/>
            <a:ext cx="4023360" cy="411480"/>
          </a:xfrm>
          <a:prstGeom prst="rect">
            <a:avLst/>
          </a:prstGeom>
          <a:solidFill>
            <a:srgbClr val="1C7293"/>
          </a:solidFill>
          <a:ln w="12700">
            <a:solidFill>
              <a:srgbClr val="1C7293"/>
            </a:solidFill>
            <a:prstDash val="solid"/>
          </a:ln>
        </p:spPr>
      </p:sp>
      <p:sp>
        <p:nvSpPr>
          <p:cNvPr id="20" name="Text 18"/>
          <p:cNvSpPr/>
          <p:nvPr/>
        </p:nvSpPr>
        <p:spPr>
          <a:xfrm>
            <a:off x="4892040" y="1737360"/>
            <a:ext cx="3840480" cy="411480"/>
          </a:xfrm>
          <a:prstGeom prst="rect">
            <a:avLst/>
          </a:prstGeom>
          <a:noFill/>
          <a:ln/>
        </p:spPr>
        <p:txBody>
          <a:bodyPr wrap="square" lIns="0" tIns="0" rIns="0" bIns="0" rtlCol="0" anchor="ctr"/>
          <a:lstStyle/>
          <a:p>
            <a:pPr indent="0" marL="0">
              <a:buNone/>
            </a:pPr>
            <a:r>
              <a:rPr lang="en-US" sz="1300" b="1" dirty="0">
                <a:solidFill>
                  <a:srgbClr val="FFFFFF"/>
                </a:solidFill>
              </a:rPr>
              <a:t>⏱  Airflow — l'orchestrateur</a:t>
            </a:r>
            <a:endParaRPr lang="en-US" sz="1300" dirty="0"/>
          </a:p>
        </p:txBody>
      </p:sp>
      <p:sp>
        <p:nvSpPr>
          <p:cNvPr id="21" name="Shape 19"/>
          <p:cNvSpPr/>
          <p:nvPr/>
        </p:nvSpPr>
        <p:spPr>
          <a:xfrm>
            <a:off x="4919472" y="2286000"/>
            <a:ext cx="64008" cy="64008"/>
          </a:xfrm>
          <a:prstGeom prst="ellipse">
            <a:avLst/>
          </a:prstGeom>
          <a:solidFill>
            <a:srgbClr val="02C39A"/>
          </a:solidFill>
          <a:ln w="12700">
            <a:solidFill>
              <a:srgbClr val="02C39A"/>
            </a:solidFill>
            <a:prstDash val="solid"/>
          </a:ln>
        </p:spPr>
      </p:sp>
      <p:sp>
        <p:nvSpPr>
          <p:cNvPr id="22" name="Text 20"/>
          <p:cNvSpPr/>
          <p:nvPr/>
        </p:nvSpPr>
        <p:spPr>
          <a:xfrm>
            <a:off x="5074920" y="2231136"/>
            <a:ext cx="3657600" cy="384048"/>
          </a:xfrm>
          <a:prstGeom prst="rect">
            <a:avLst/>
          </a:prstGeom>
          <a:noFill/>
          <a:ln/>
        </p:spPr>
        <p:txBody>
          <a:bodyPr wrap="square" lIns="0" tIns="0" rIns="0" bIns="0" rtlCol="0" anchor="ctr"/>
          <a:lstStyle/>
          <a:p>
            <a:pPr indent="0" marL="0">
              <a:buNone/>
            </a:pPr>
            <a:r>
              <a:rPr lang="en-US" sz="1100" dirty="0">
                <a:solidFill>
                  <a:srgbClr val="0D2D3E"/>
                </a:solidFill>
              </a:rPr>
              <a:t>Planifie l'exécution du pipeline toutes les 15 minutes</a:t>
            </a:r>
            <a:endParaRPr lang="en-US" sz="1100" dirty="0"/>
          </a:p>
        </p:txBody>
      </p:sp>
      <p:sp>
        <p:nvSpPr>
          <p:cNvPr id="23" name="Shape 21"/>
          <p:cNvSpPr/>
          <p:nvPr/>
        </p:nvSpPr>
        <p:spPr>
          <a:xfrm>
            <a:off x="4919472" y="2724912"/>
            <a:ext cx="64008" cy="64008"/>
          </a:xfrm>
          <a:prstGeom prst="ellipse">
            <a:avLst/>
          </a:prstGeom>
          <a:solidFill>
            <a:srgbClr val="02C39A"/>
          </a:solidFill>
          <a:ln w="12700">
            <a:solidFill>
              <a:srgbClr val="02C39A"/>
            </a:solidFill>
            <a:prstDash val="solid"/>
          </a:ln>
        </p:spPr>
      </p:sp>
      <p:sp>
        <p:nvSpPr>
          <p:cNvPr id="24" name="Text 22"/>
          <p:cNvSpPr/>
          <p:nvPr/>
        </p:nvSpPr>
        <p:spPr>
          <a:xfrm>
            <a:off x="5074920" y="2670048"/>
            <a:ext cx="3657600" cy="384048"/>
          </a:xfrm>
          <a:prstGeom prst="rect">
            <a:avLst/>
          </a:prstGeom>
          <a:noFill/>
          <a:ln/>
        </p:spPr>
        <p:txBody>
          <a:bodyPr wrap="square" lIns="0" tIns="0" rIns="0" bIns="0" rtlCol="0" anchor="ctr"/>
          <a:lstStyle/>
          <a:p>
            <a:pPr indent="0" marL="0">
              <a:buNone/>
            </a:pPr>
            <a:r>
              <a:rPr lang="en-US" sz="1100" dirty="0">
                <a:solidFill>
                  <a:srgbClr val="0D2D3E"/>
                </a:solidFill>
              </a:rPr>
              <a:t>Surveille que chaque étape se déroule correctement</a:t>
            </a:r>
            <a:endParaRPr lang="en-US" sz="1100" dirty="0"/>
          </a:p>
        </p:txBody>
      </p:sp>
      <p:sp>
        <p:nvSpPr>
          <p:cNvPr id="25" name="Shape 23"/>
          <p:cNvSpPr/>
          <p:nvPr/>
        </p:nvSpPr>
        <p:spPr>
          <a:xfrm>
            <a:off x="4919472" y="3163824"/>
            <a:ext cx="64008" cy="64008"/>
          </a:xfrm>
          <a:prstGeom prst="ellipse">
            <a:avLst/>
          </a:prstGeom>
          <a:solidFill>
            <a:srgbClr val="02C39A"/>
          </a:solidFill>
          <a:ln w="12700">
            <a:solidFill>
              <a:srgbClr val="02C39A"/>
            </a:solidFill>
            <a:prstDash val="solid"/>
          </a:ln>
        </p:spPr>
      </p:sp>
      <p:sp>
        <p:nvSpPr>
          <p:cNvPr id="26" name="Text 24"/>
          <p:cNvSpPr/>
          <p:nvPr/>
        </p:nvSpPr>
        <p:spPr>
          <a:xfrm>
            <a:off x="5074920" y="3108960"/>
            <a:ext cx="3657600" cy="384048"/>
          </a:xfrm>
          <a:prstGeom prst="rect">
            <a:avLst/>
          </a:prstGeom>
          <a:noFill/>
          <a:ln/>
        </p:spPr>
        <p:txBody>
          <a:bodyPr wrap="square" lIns="0" tIns="0" rIns="0" bIns="0" rtlCol="0" anchor="ctr"/>
          <a:lstStyle/>
          <a:p>
            <a:pPr indent="0" marL="0">
              <a:buNone/>
            </a:pPr>
            <a:r>
              <a:rPr lang="en-US" sz="1100" dirty="0">
                <a:solidFill>
                  <a:srgbClr val="0D2D3E"/>
                </a:solidFill>
              </a:rPr>
              <a:t>Alerte en cas d'erreur ou de donnée manquante</a:t>
            </a:r>
            <a:endParaRPr lang="en-US" sz="1100" dirty="0"/>
          </a:p>
        </p:txBody>
      </p:sp>
      <p:sp>
        <p:nvSpPr>
          <p:cNvPr id="27" name="Shape 25"/>
          <p:cNvSpPr/>
          <p:nvPr/>
        </p:nvSpPr>
        <p:spPr>
          <a:xfrm>
            <a:off x="4919472" y="3602736"/>
            <a:ext cx="64008" cy="64008"/>
          </a:xfrm>
          <a:prstGeom prst="ellipse">
            <a:avLst/>
          </a:prstGeom>
          <a:solidFill>
            <a:srgbClr val="02C39A"/>
          </a:solidFill>
          <a:ln w="12700">
            <a:solidFill>
              <a:srgbClr val="02C39A"/>
            </a:solidFill>
            <a:prstDash val="solid"/>
          </a:ln>
        </p:spPr>
      </p:sp>
      <p:sp>
        <p:nvSpPr>
          <p:cNvPr id="28" name="Text 26"/>
          <p:cNvSpPr/>
          <p:nvPr/>
        </p:nvSpPr>
        <p:spPr>
          <a:xfrm>
            <a:off x="5074920" y="3547872"/>
            <a:ext cx="3657600" cy="384048"/>
          </a:xfrm>
          <a:prstGeom prst="rect">
            <a:avLst/>
          </a:prstGeom>
          <a:noFill/>
          <a:ln/>
        </p:spPr>
        <p:txBody>
          <a:bodyPr wrap="square" lIns="0" tIns="0" rIns="0" bIns="0" rtlCol="0" anchor="ctr"/>
          <a:lstStyle/>
          <a:p>
            <a:pPr indent="0" marL="0">
              <a:buNone/>
            </a:pPr>
            <a:r>
              <a:rPr lang="en-US" sz="1100" dirty="0">
                <a:solidFill>
                  <a:srgbClr val="0D2D3E"/>
                </a:solidFill>
              </a:rPr>
              <a:t>Conserve un historique de toutes les exécutions</a:t>
            </a:r>
            <a:endParaRPr lang="en-US" sz="1100" dirty="0"/>
          </a:p>
        </p:txBody>
      </p:sp>
      <p:sp>
        <p:nvSpPr>
          <p:cNvPr id="29" name="Shape 27"/>
          <p:cNvSpPr/>
          <p:nvPr/>
        </p:nvSpPr>
        <p:spPr>
          <a:xfrm>
            <a:off x="4919472" y="4041648"/>
            <a:ext cx="64008" cy="64008"/>
          </a:xfrm>
          <a:prstGeom prst="ellipse">
            <a:avLst/>
          </a:prstGeom>
          <a:solidFill>
            <a:srgbClr val="02C39A"/>
          </a:solidFill>
          <a:ln w="12700">
            <a:solidFill>
              <a:srgbClr val="02C39A"/>
            </a:solidFill>
            <a:prstDash val="solid"/>
          </a:ln>
        </p:spPr>
      </p:sp>
      <p:sp>
        <p:nvSpPr>
          <p:cNvPr id="30" name="Text 28"/>
          <p:cNvSpPr/>
          <p:nvPr/>
        </p:nvSpPr>
        <p:spPr>
          <a:xfrm>
            <a:off x="5074920" y="3986784"/>
            <a:ext cx="3657600" cy="384048"/>
          </a:xfrm>
          <a:prstGeom prst="rect">
            <a:avLst/>
          </a:prstGeom>
          <a:noFill/>
          <a:ln/>
        </p:spPr>
        <p:txBody>
          <a:bodyPr wrap="square" lIns="0" tIns="0" rIns="0" bIns="0" rtlCol="0" anchor="ctr"/>
          <a:lstStyle/>
          <a:p>
            <a:pPr indent="0" marL="0">
              <a:buNone/>
            </a:pPr>
            <a:r>
              <a:rPr lang="en-US" sz="1100" dirty="0">
                <a:solidFill>
                  <a:srgbClr val="0D2D3E"/>
                </a:solidFill>
              </a:rPr>
              <a:t>Interface web pour visualiser l'état du pipeline</a:t>
            </a:r>
            <a:endParaRPr lang="en-US" sz="1100" dirty="0"/>
          </a:p>
        </p:txBody>
      </p:sp>
      <p:sp>
        <p:nvSpPr>
          <p:cNvPr id="31" name="Text 29"/>
          <p:cNvSpPr/>
          <p:nvPr/>
        </p:nvSpPr>
        <p:spPr>
          <a:xfrm>
            <a:off x="4343400" y="2926080"/>
            <a:ext cx="457200" cy="457200"/>
          </a:xfrm>
          <a:prstGeom prst="rect">
            <a:avLst/>
          </a:prstGeom>
          <a:noFill/>
          <a:ln/>
        </p:spPr>
        <p:txBody>
          <a:bodyPr wrap="square" lIns="0" tIns="0" rIns="0" bIns="0" rtlCol="0" anchor="ctr"/>
          <a:lstStyle/>
          <a:p>
            <a:pPr algn="ctr" indent="0" marL="0">
              <a:buNone/>
            </a:pPr>
            <a:r>
              <a:rPr lang="en-US" sz="2200" b="1" dirty="0">
                <a:solidFill>
                  <a:srgbClr val="02C39A"/>
                </a:solidFill>
              </a:rPr>
              <a:t>→</a:t>
            </a:r>
            <a:endParaRPr lang="en-US" sz="2200" dirty="0"/>
          </a:p>
        </p:txBody>
      </p:sp>
      <p:sp>
        <p:nvSpPr>
          <p:cNvPr id="32" name="Shape 30"/>
          <p:cNvSpPr/>
          <p:nvPr/>
        </p:nvSpPr>
        <p:spPr>
          <a:xfrm>
            <a:off x="320040" y="4663440"/>
            <a:ext cx="8503920" cy="347472"/>
          </a:xfrm>
          <a:prstGeom prst="rect">
            <a:avLst/>
          </a:prstGeom>
          <a:solidFill>
            <a:srgbClr val="E1F5FD"/>
          </a:solidFill>
          <a:ln w="12700">
            <a:solidFill>
              <a:srgbClr val="D8EEF6"/>
            </a:solidFill>
            <a:prstDash val="solid"/>
          </a:ln>
        </p:spPr>
      </p:sp>
      <p:sp>
        <p:nvSpPr>
          <p:cNvPr id="33" name="Text 31"/>
          <p:cNvSpPr/>
          <p:nvPr/>
        </p:nvSpPr>
        <p:spPr>
          <a:xfrm>
            <a:off x="320040" y="4663440"/>
            <a:ext cx="8503920" cy="347472"/>
          </a:xfrm>
          <a:prstGeom prst="rect">
            <a:avLst/>
          </a:prstGeom>
          <a:noFill/>
          <a:ln/>
        </p:spPr>
        <p:txBody>
          <a:bodyPr wrap="square" lIns="0" tIns="101600" rIns="0" bIns="0" rtlCol="0" anchor="ctr"/>
          <a:lstStyle/>
          <a:p>
            <a:pPr indent="0" marL="0">
              <a:buNone/>
            </a:pPr>
            <a:r>
              <a:rPr lang="en-US" sz="1100" dirty="0">
                <a:solidFill>
                  <a:srgbClr val="2C5F7A"/>
                </a:solidFill>
              </a:rPr>
              <a:t>⚙️  Infrastructure : les deux s'exécutent dans des conteneurs Docker — aucune installation manuelle nécessaire</a:t>
            </a:r>
            <a:endParaRPr lang="en-US" sz="1100" dirty="0"/>
          </a:p>
        </p:txBody>
      </p:sp>
      <p:sp>
        <p:nvSpPr>
          <p:cNvPr id="34" name="Text 32"/>
          <p:cNvSpPr/>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6B9DB5"/>
                </a:solidFill>
              </a:rPr>
              <a:t>Big Data B2 — Sup de Vinci</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F8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65A82"/>
          </a:solidFill>
          <a:ln w="12700">
            <a:solidFill>
              <a:srgbClr val="065A82"/>
            </a:solidFill>
            <a:prstDash val="solid"/>
          </a:ln>
        </p:spPr>
      </p:sp>
      <p:sp>
        <p:nvSpPr>
          <p:cNvPr id="3" name="Text 1"/>
          <p:cNvSpPr/>
          <p:nvPr/>
        </p:nvSpPr>
        <p:spPr>
          <a:xfrm>
            <a:off x="365760" y="0"/>
            <a:ext cx="8412480" cy="822960"/>
          </a:xfrm>
          <a:prstGeom prst="rect">
            <a:avLst/>
          </a:prstGeom>
          <a:noFill/>
          <a:ln/>
        </p:spPr>
        <p:txBody>
          <a:bodyPr wrap="square" lIns="0" tIns="0" rIns="0" bIns="0" rtlCol="0" anchor="ctr"/>
          <a:lstStyle/>
          <a:p>
            <a:pPr indent="0" marL="0">
              <a:buNone/>
            </a:pPr>
            <a:r>
              <a:rPr lang="en-US" sz="2200" b="1" dirty="0">
                <a:solidFill>
                  <a:srgbClr val="FFFFFF"/>
                </a:solidFill>
              </a:rPr>
              <a:t>Étape 2 — Le lac de données (MinIO)</a:t>
            </a:r>
            <a:endParaRPr lang="en-US" sz="2200" dirty="0"/>
          </a:p>
        </p:txBody>
      </p:sp>
      <p:sp>
        <p:nvSpPr>
          <p:cNvPr id="4" name="Text 2"/>
          <p:cNvSpPr/>
          <p:nvPr/>
        </p:nvSpPr>
        <p:spPr>
          <a:xfrm>
            <a:off x="457200" y="914400"/>
            <a:ext cx="8229600" cy="685800"/>
          </a:xfrm>
          <a:prstGeom prst="rect">
            <a:avLst/>
          </a:prstGeom>
          <a:noFill/>
          <a:ln/>
        </p:spPr>
        <p:txBody>
          <a:bodyPr wrap="square" rtlCol="0" anchor="ctr"/>
          <a:lstStyle/>
          <a:p>
            <a:pPr indent="0" marL="0">
              <a:buNone/>
            </a:pPr>
            <a:r>
              <a:rPr lang="en-US" sz="1300" dirty="0">
                <a:solidFill>
                  <a:srgbClr val="2C5F7A"/>
                </a:solidFill>
              </a:rPr>
              <a:t>Avant tout traitement, chaque snapshot de données est archivé brut dans MinIO, notre lac de données. MinIO fonctionne exactement comme Amazon S3 — c'est un stockage en "seaux" (buckets) accessible via une interface web et une API standard.</a:t>
            </a:r>
            <a:endParaRPr lang="en-US" sz="1300" dirty="0"/>
          </a:p>
        </p:txBody>
      </p:sp>
      <p:sp>
        <p:nvSpPr>
          <p:cNvPr id="5" name="Shape 3"/>
          <p:cNvSpPr/>
          <p:nvPr/>
        </p:nvSpPr>
        <p:spPr>
          <a:xfrm>
            <a:off x="3200400" y="1737360"/>
            <a:ext cx="2743200" cy="2011680"/>
          </a:xfrm>
          <a:prstGeom prst="rect">
            <a:avLst/>
          </a:prstGeom>
          <a:solidFill>
            <a:srgbClr val="065A82"/>
          </a:solidFill>
          <a:ln w="12700">
            <a:solidFill>
              <a:srgbClr val="065A82"/>
            </a:solidFill>
            <a:prstDash val="solid"/>
          </a:ln>
          <a:effectLst>
            <a:outerShdw sx="100000" sy="100000" kx="0" ky="0" algn="bl" rotWithShape="0" blurRad="101600" dist="38100" dir="8100000">
              <a:srgbClr val="000000">
                <a:alpha val="12000"/>
              </a:srgbClr>
            </a:outerShdw>
          </a:effectLst>
        </p:spPr>
      </p:sp>
      <p:sp>
        <p:nvSpPr>
          <p:cNvPr id="6" name="Text 4"/>
          <p:cNvSpPr/>
          <p:nvPr/>
        </p:nvSpPr>
        <p:spPr>
          <a:xfrm>
            <a:off x="3200400" y="1828800"/>
            <a:ext cx="2743200" cy="640080"/>
          </a:xfrm>
          <a:prstGeom prst="rect">
            <a:avLst/>
          </a:prstGeom>
          <a:noFill/>
          <a:ln/>
        </p:spPr>
        <p:txBody>
          <a:bodyPr wrap="square" rtlCol="0" anchor="ctr"/>
          <a:lstStyle/>
          <a:p>
            <a:pPr algn="ctr" indent="0" marL="0">
              <a:buNone/>
            </a:pPr>
            <a:r>
              <a:rPr lang="en-US" sz="3000" dirty="0">
                <a:solidFill>
                  <a:srgbClr val="000000"/>
                </a:solidFill>
              </a:rPr>
              <a:t>🗄️</a:t>
            </a:r>
            <a:endParaRPr lang="en-US" sz="3000" dirty="0"/>
          </a:p>
        </p:txBody>
      </p:sp>
      <p:sp>
        <p:nvSpPr>
          <p:cNvPr id="7" name="Text 5"/>
          <p:cNvSpPr/>
          <p:nvPr/>
        </p:nvSpPr>
        <p:spPr>
          <a:xfrm>
            <a:off x="3200400" y="2423160"/>
            <a:ext cx="2743200" cy="320040"/>
          </a:xfrm>
          <a:prstGeom prst="rect">
            <a:avLst/>
          </a:prstGeom>
          <a:noFill/>
          <a:ln/>
        </p:spPr>
        <p:txBody>
          <a:bodyPr wrap="square" lIns="0" tIns="0" rIns="0" bIns="0" rtlCol="0" anchor="ctr"/>
          <a:lstStyle/>
          <a:p>
            <a:pPr algn="ctr" indent="0" marL="0">
              <a:buNone/>
            </a:pPr>
            <a:r>
              <a:rPr lang="en-US" sz="1600" b="1" dirty="0">
                <a:solidFill>
                  <a:srgbClr val="FFFFFF"/>
                </a:solidFill>
              </a:rPr>
              <a:t>MinIO</a:t>
            </a:r>
            <a:endParaRPr lang="en-US" sz="1600" dirty="0"/>
          </a:p>
        </p:txBody>
      </p:sp>
      <p:sp>
        <p:nvSpPr>
          <p:cNvPr id="8" name="Text 6"/>
          <p:cNvSpPr/>
          <p:nvPr/>
        </p:nvSpPr>
        <p:spPr>
          <a:xfrm>
            <a:off x="3200400" y="2743200"/>
            <a:ext cx="2743200" cy="228600"/>
          </a:xfrm>
          <a:prstGeom prst="rect">
            <a:avLst/>
          </a:prstGeom>
          <a:noFill/>
          <a:ln/>
        </p:spPr>
        <p:txBody>
          <a:bodyPr wrap="square" lIns="0" tIns="0" rIns="0" bIns="0" rtlCol="0" anchor="ctr"/>
          <a:lstStyle/>
          <a:p>
            <a:pPr algn="ctr" indent="0" marL="0">
              <a:buNone/>
            </a:pPr>
            <a:r>
              <a:rPr lang="en-US" sz="1000" dirty="0">
                <a:solidFill>
                  <a:srgbClr val="9ECFE8"/>
                </a:solidFill>
              </a:rPr>
              <a:t>Lac de données</a:t>
            </a:r>
            <a:endParaRPr lang="en-US" sz="1000" dirty="0"/>
          </a:p>
        </p:txBody>
      </p:sp>
      <p:sp>
        <p:nvSpPr>
          <p:cNvPr id="9" name="Text 7"/>
          <p:cNvSpPr/>
          <p:nvPr/>
        </p:nvSpPr>
        <p:spPr>
          <a:xfrm>
            <a:off x="3200400" y="3017520"/>
            <a:ext cx="2743200" cy="201168"/>
          </a:xfrm>
          <a:prstGeom prst="rect">
            <a:avLst/>
          </a:prstGeom>
          <a:noFill/>
          <a:ln/>
        </p:spPr>
        <p:txBody>
          <a:bodyPr wrap="square" lIns="0" tIns="0" rIns="0" bIns="0" rtlCol="0" anchor="ctr"/>
          <a:lstStyle/>
          <a:p>
            <a:pPr algn="ctr" indent="0" marL="0">
              <a:buNone/>
            </a:pPr>
            <a:r>
              <a:rPr lang="en-US" sz="900" i="1" dirty="0">
                <a:solidFill>
                  <a:srgbClr val="02C39A"/>
                </a:solidFill>
              </a:rPr>
              <a:t>Compatible S3</a:t>
            </a:r>
            <a:endParaRPr lang="en-US" sz="900" dirty="0"/>
          </a:p>
        </p:txBody>
      </p:sp>
      <p:sp>
        <p:nvSpPr>
          <p:cNvPr id="10" name="Text 8"/>
          <p:cNvSpPr/>
          <p:nvPr/>
        </p:nvSpPr>
        <p:spPr>
          <a:xfrm>
            <a:off x="3200400" y="3291840"/>
            <a:ext cx="2743200" cy="201168"/>
          </a:xfrm>
          <a:prstGeom prst="rect">
            <a:avLst/>
          </a:prstGeom>
          <a:noFill/>
          <a:ln/>
        </p:spPr>
        <p:txBody>
          <a:bodyPr wrap="square" lIns="0" tIns="0" rIns="0" bIns="0" rtlCol="0" anchor="ctr"/>
          <a:lstStyle/>
          <a:p>
            <a:pPr algn="ctr" indent="0" marL="0">
              <a:buNone/>
            </a:pPr>
            <a:r>
              <a:rPr lang="en-US" sz="900" i="1" dirty="0">
                <a:solidFill>
                  <a:srgbClr val="9ECFE8"/>
                </a:solidFill>
              </a:rPr>
              <a:t>localhost:9001</a:t>
            </a:r>
            <a:endParaRPr lang="en-US" sz="900" dirty="0"/>
          </a:p>
        </p:txBody>
      </p:sp>
      <p:sp>
        <p:nvSpPr>
          <p:cNvPr id="11" name="Shape 9"/>
          <p:cNvSpPr/>
          <p:nvPr/>
        </p:nvSpPr>
        <p:spPr>
          <a:xfrm>
            <a:off x="320040" y="1920240"/>
            <a:ext cx="2468880" cy="155448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20040" y="1920240"/>
            <a:ext cx="2468880" cy="347472"/>
          </a:xfrm>
          <a:prstGeom prst="rect">
            <a:avLst/>
          </a:prstGeom>
          <a:solidFill>
            <a:srgbClr val="028090"/>
          </a:solidFill>
          <a:ln w="12700">
            <a:solidFill>
              <a:srgbClr val="028090"/>
            </a:solidFill>
            <a:prstDash val="solid"/>
          </a:ln>
        </p:spPr>
      </p:sp>
      <p:sp>
        <p:nvSpPr>
          <p:cNvPr id="13" name="Text 11"/>
          <p:cNvSpPr/>
          <p:nvPr/>
        </p:nvSpPr>
        <p:spPr>
          <a:xfrm>
            <a:off x="320040" y="1920240"/>
            <a:ext cx="2468880" cy="347472"/>
          </a:xfrm>
          <a:prstGeom prst="rect">
            <a:avLst/>
          </a:prstGeom>
          <a:noFill/>
          <a:ln/>
        </p:spPr>
        <p:txBody>
          <a:bodyPr wrap="square" lIns="50800" tIns="50800" rIns="50800" bIns="50800" rtlCol="0" anchor="ctr"/>
          <a:lstStyle/>
          <a:p>
            <a:pPr indent="0" marL="0">
              <a:buNone/>
            </a:pPr>
            <a:r>
              <a:rPr lang="en-US" sz="1100" b="1" dirty="0">
                <a:solidFill>
                  <a:srgbClr val="FFFFFF"/>
                </a:solidFill>
              </a:rPr>
              <a:t>📦  parkings-raw</a:t>
            </a:r>
            <a:endParaRPr lang="en-US" sz="1100" dirty="0"/>
          </a:p>
        </p:txBody>
      </p:sp>
      <p:sp>
        <p:nvSpPr>
          <p:cNvPr id="14" name="Text 12"/>
          <p:cNvSpPr/>
          <p:nvPr/>
        </p:nvSpPr>
        <p:spPr>
          <a:xfrm>
            <a:off x="411480" y="2331720"/>
            <a:ext cx="2286000" cy="320040"/>
          </a:xfrm>
          <a:prstGeom prst="rect">
            <a:avLst/>
          </a:prstGeom>
          <a:noFill/>
          <a:ln/>
        </p:spPr>
        <p:txBody>
          <a:bodyPr wrap="square" lIns="0" tIns="0" rIns="0" bIns="0" rtlCol="0" anchor="ctr"/>
          <a:lstStyle/>
          <a:p>
            <a:pPr indent="0" marL="0">
              <a:buNone/>
            </a:pPr>
            <a:r>
              <a:rPr lang="en-US" sz="1000" dirty="0">
                <a:solidFill>
                  <a:srgbClr val="0D2D3E"/>
                </a:solidFill>
              </a:rPr>
              <a:t>• citedia/ → JSON parking</a:t>
            </a:r>
            <a:endParaRPr lang="en-US" sz="1000" dirty="0"/>
          </a:p>
        </p:txBody>
      </p:sp>
      <p:sp>
        <p:nvSpPr>
          <p:cNvPr id="15" name="Text 13"/>
          <p:cNvSpPr/>
          <p:nvPr/>
        </p:nvSpPr>
        <p:spPr>
          <a:xfrm>
            <a:off x="411480" y="2679192"/>
            <a:ext cx="2286000" cy="320040"/>
          </a:xfrm>
          <a:prstGeom prst="rect">
            <a:avLst/>
          </a:prstGeom>
          <a:noFill/>
          <a:ln/>
        </p:spPr>
        <p:txBody>
          <a:bodyPr wrap="square" lIns="0" tIns="0" rIns="0" bIns="0" rtlCol="0" anchor="ctr"/>
          <a:lstStyle/>
          <a:p>
            <a:pPr indent="0" marL="0">
              <a:buNone/>
            </a:pPr>
            <a:r>
              <a:rPr lang="en-US" sz="1000" dirty="0">
                <a:solidFill>
                  <a:srgbClr val="0D2D3E"/>
                </a:solidFill>
              </a:rPr>
              <a:t>• star/ → JSON vélos</a:t>
            </a:r>
            <a:endParaRPr lang="en-US" sz="1000" dirty="0"/>
          </a:p>
        </p:txBody>
      </p:sp>
      <p:sp>
        <p:nvSpPr>
          <p:cNvPr id="16" name="Text 14"/>
          <p:cNvSpPr/>
          <p:nvPr/>
        </p:nvSpPr>
        <p:spPr>
          <a:xfrm>
            <a:off x="411480" y="3026664"/>
            <a:ext cx="2286000" cy="320040"/>
          </a:xfrm>
          <a:prstGeom prst="rect">
            <a:avLst/>
          </a:prstGeom>
          <a:noFill/>
          <a:ln/>
        </p:spPr>
        <p:txBody>
          <a:bodyPr wrap="square" lIns="0" tIns="0" rIns="0" bIns="0" rtlCol="0" anchor="ctr"/>
          <a:lstStyle/>
          <a:p>
            <a:pPr indent="0" marL="0">
              <a:buNone/>
            </a:pPr>
            <a:r>
              <a:rPr lang="en-US" sz="1000" dirty="0">
                <a:solidFill>
                  <a:srgbClr val="0D2D3E"/>
                </a:solidFill>
              </a:rPr>
              <a:t>• weather/ → JSON météo</a:t>
            </a:r>
            <a:endParaRPr lang="en-US" sz="1000" dirty="0"/>
          </a:p>
        </p:txBody>
      </p:sp>
      <p:sp>
        <p:nvSpPr>
          <p:cNvPr id="17" name="Shape 15"/>
          <p:cNvSpPr/>
          <p:nvPr/>
        </p:nvSpPr>
        <p:spPr>
          <a:xfrm>
            <a:off x="6400800" y="1920240"/>
            <a:ext cx="2468880" cy="155448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6400800" y="1920240"/>
            <a:ext cx="2468880" cy="347472"/>
          </a:xfrm>
          <a:prstGeom prst="rect">
            <a:avLst/>
          </a:prstGeom>
          <a:solidFill>
            <a:srgbClr val="02A896"/>
          </a:solidFill>
          <a:ln w="12700">
            <a:solidFill>
              <a:srgbClr val="02A896"/>
            </a:solidFill>
            <a:prstDash val="solid"/>
          </a:ln>
        </p:spPr>
      </p:sp>
      <p:sp>
        <p:nvSpPr>
          <p:cNvPr id="19" name="Text 17"/>
          <p:cNvSpPr/>
          <p:nvPr/>
        </p:nvSpPr>
        <p:spPr>
          <a:xfrm>
            <a:off x="6400800" y="1920240"/>
            <a:ext cx="2468880" cy="347472"/>
          </a:xfrm>
          <a:prstGeom prst="rect">
            <a:avLst/>
          </a:prstGeom>
          <a:noFill/>
          <a:ln/>
        </p:spPr>
        <p:txBody>
          <a:bodyPr wrap="square" lIns="50800" tIns="50800" rIns="50800" bIns="50800" rtlCol="0" anchor="ctr"/>
          <a:lstStyle/>
          <a:p>
            <a:pPr indent="0" marL="0">
              <a:buNone/>
            </a:pPr>
            <a:r>
              <a:rPr lang="en-US" sz="1100" b="1" dirty="0">
                <a:solidFill>
                  <a:srgbClr val="FFFFFF"/>
                </a:solidFill>
              </a:rPr>
              <a:t>📦  parkings-processed</a:t>
            </a:r>
            <a:endParaRPr lang="en-US" sz="1100" dirty="0"/>
          </a:p>
        </p:txBody>
      </p:sp>
      <p:sp>
        <p:nvSpPr>
          <p:cNvPr id="20" name="Text 18"/>
          <p:cNvSpPr/>
          <p:nvPr/>
        </p:nvSpPr>
        <p:spPr>
          <a:xfrm>
            <a:off x="6492240" y="2331720"/>
            <a:ext cx="2286000" cy="320040"/>
          </a:xfrm>
          <a:prstGeom prst="rect">
            <a:avLst/>
          </a:prstGeom>
          <a:noFill/>
          <a:ln/>
        </p:spPr>
        <p:txBody>
          <a:bodyPr wrap="square" lIns="0" tIns="0" rIns="0" bIns="0" rtlCol="0" anchor="ctr"/>
          <a:lstStyle/>
          <a:p>
            <a:pPr indent="0" marL="0">
              <a:buNone/>
            </a:pPr>
            <a:r>
              <a:rPr lang="en-US" sz="1000" dirty="0">
                <a:solidFill>
                  <a:srgbClr val="0D2D3E"/>
                </a:solidFill>
              </a:rPr>
              <a:t>• Agrégations / heure</a:t>
            </a:r>
            <a:endParaRPr lang="en-US" sz="1000" dirty="0"/>
          </a:p>
        </p:txBody>
      </p:sp>
      <p:sp>
        <p:nvSpPr>
          <p:cNvPr id="21" name="Text 19"/>
          <p:cNvSpPr/>
          <p:nvPr/>
        </p:nvSpPr>
        <p:spPr>
          <a:xfrm>
            <a:off x="6492240" y="2679192"/>
            <a:ext cx="2286000" cy="320040"/>
          </a:xfrm>
          <a:prstGeom prst="rect">
            <a:avLst/>
          </a:prstGeom>
          <a:noFill/>
          <a:ln/>
        </p:spPr>
        <p:txBody>
          <a:bodyPr wrap="square" lIns="0" tIns="0" rIns="0" bIns="0" rtlCol="0" anchor="ctr"/>
          <a:lstStyle/>
          <a:p>
            <a:pPr indent="0" marL="0">
              <a:buNone/>
            </a:pPr>
            <a:r>
              <a:rPr lang="en-US" sz="1000" dirty="0">
                <a:solidFill>
                  <a:srgbClr val="0D2D3E"/>
                </a:solidFill>
              </a:rPr>
              <a:t>• Format Parquet</a:t>
            </a:r>
            <a:endParaRPr lang="en-US" sz="1000" dirty="0"/>
          </a:p>
        </p:txBody>
      </p:sp>
      <p:sp>
        <p:nvSpPr>
          <p:cNvPr id="22" name="Text 20"/>
          <p:cNvSpPr/>
          <p:nvPr/>
        </p:nvSpPr>
        <p:spPr>
          <a:xfrm>
            <a:off x="6492240" y="3026664"/>
            <a:ext cx="2286000" cy="320040"/>
          </a:xfrm>
          <a:prstGeom prst="rect">
            <a:avLst/>
          </a:prstGeom>
          <a:noFill/>
          <a:ln/>
        </p:spPr>
        <p:txBody>
          <a:bodyPr wrap="square" lIns="0" tIns="0" rIns="0" bIns="0" rtlCol="0" anchor="ctr"/>
          <a:lstStyle/>
          <a:p>
            <a:pPr indent="0" marL="0">
              <a:buNone/>
            </a:pPr>
            <a:r>
              <a:rPr lang="en-US" sz="1000" dirty="0">
                <a:solidFill>
                  <a:srgbClr val="0D2D3E"/>
                </a:solidFill>
              </a:rPr>
              <a:t>• Partitionné par date</a:t>
            </a:r>
            <a:endParaRPr lang="en-US" sz="1000" dirty="0"/>
          </a:p>
        </p:txBody>
      </p:sp>
      <p:sp>
        <p:nvSpPr>
          <p:cNvPr id="23" name="Text 21"/>
          <p:cNvSpPr/>
          <p:nvPr/>
        </p:nvSpPr>
        <p:spPr>
          <a:xfrm>
            <a:off x="2788920" y="2468880"/>
            <a:ext cx="411480" cy="320040"/>
          </a:xfrm>
          <a:prstGeom prst="rect">
            <a:avLst/>
          </a:prstGeom>
          <a:noFill/>
          <a:ln/>
        </p:spPr>
        <p:txBody>
          <a:bodyPr wrap="square" lIns="0" tIns="0" rIns="0" bIns="0" rtlCol="0" anchor="ctr"/>
          <a:lstStyle/>
          <a:p>
            <a:pPr algn="ctr" indent="0" marL="0">
              <a:buNone/>
            </a:pPr>
            <a:r>
              <a:rPr lang="en-US" sz="1800" b="1" dirty="0">
                <a:solidFill>
                  <a:srgbClr val="1C7293"/>
                </a:solidFill>
              </a:rPr>
              <a:t>→</a:t>
            </a:r>
            <a:endParaRPr lang="en-US" sz="1800" dirty="0"/>
          </a:p>
        </p:txBody>
      </p:sp>
      <p:sp>
        <p:nvSpPr>
          <p:cNvPr id="24" name="Text 22"/>
          <p:cNvSpPr/>
          <p:nvPr/>
        </p:nvSpPr>
        <p:spPr>
          <a:xfrm>
            <a:off x="5943600" y="2468880"/>
            <a:ext cx="411480" cy="320040"/>
          </a:xfrm>
          <a:prstGeom prst="rect">
            <a:avLst/>
          </a:prstGeom>
          <a:noFill/>
          <a:ln/>
        </p:spPr>
        <p:txBody>
          <a:bodyPr wrap="square" lIns="0" tIns="0" rIns="0" bIns="0" rtlCol="0" anchor="ctr"/>
          <a:lstStyle/>
          <a:p>
            <a:pPr algn="ctr" indent="0" marL="0">
              <a:buNone/>
            </a:pPr>
            <a:r>
              <a:rPr lang="en-US" sz="1800" b="1" dirty="0">
                <a:solidFill>
                  <a:srgbClr val="02C39A"/>
                </a:solidFill>
              </a:rPr>
              <a:t>→</a:t>
            </a:r>
            <a:endParaRPr lang="en-US" sz="1800" dirty="0"/>
          </a:p>
        </p:txBody>
      </p:sp>
      <p:sp>
        <p:nvSpPr>
          <p:cNvPr id="25" name="Shape 23"/>
          <p:cNvSpPr/>
          <p:nvPr/>
        </p:nvSpPr>
        <p:spPr>
          <a:xfrm>
            <a:off x="320040" y="3931920"/>
            <a:ext cx="8503920" cy="548640"/>
          </a:xfrm>
          <a:prstGeom prst="rect">
            <a:avLst/>
          </a:prstGeom>
          <a:solidFill>
            <a:srgbClr val="FFF8E6"/>
          </a:solidFill>
          <a:ln w="12700">
            <a:solidFill>
              <a:srgbClr val="F5D58A"/>
            </a:solidFill>
            <a:prstDash val="solid"/>
          </a:ln>
        </p:spPr>
      </p:sp>
      <p:sp>
        <p:nvSpPr>
          <p:cNvPr id="26" name="Text 24"/>
          <p:cNvSpPr/>
          <p:nvPr/>
        </p:nvSpPr>
        <p:spPr>
          <a:xfrm>
            <a:off x="411480" y="3931920"/>
            <a:ext cx="8321040" cy="548640"/>
          </a:xfrm>
          <a:prstGeom prst="rect">
            <a:avLst/>
          </a:prstGeom>
          <a:noFill/>
          <a:ln/>
        </p:spPr>
        <p:txBody>
          <a:bodyPr wrap="square" lIns="0" tIns="0" rIns="0" bIns="0" rtlCol="0" anchor="ctr"/>
          <a:lstStyle/>
          <a:p>
            <a:pPr indent="0" marL="0">
              <a:buNone/>
            </a:pPr>
            <a:r>
              <a:rPr lang="en-US" sz="1100" dirty="0">
                <a:solidFill>
                  <a:srgbClr val="7A5C00"/>
                </a:solidFill>
              </a:rPr>
              <a:t>💡  Pourquoi stocker les données brutes ? Si un bug survient dans le traitement, on peut toujours re-traiter les archives sans perdre d'information.</a:t>
            </a:r>
            <a:endParaRPr lang="en-US" sz="1100" dirty="0"/>
          </a:p>
        </p:txBody>
      </p:sp>
      <p:sp>
        <p:nvSpPr>
          <p:cNvPr id="27" name="Text 25"/>
          <p:cNvSpPr/>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6B9DB5"/>
                </a:solidFill>
              </a:rPr>
              <a:t>Big Data B2 — Sup de Vinci</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F8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65A82"/>
          </a:solidFill>
          <a:ln w="12700">
            <a:solidFill>
              <a:srgbClr val="065A82"/>
            </a:solidFill>
            <a:prstDash val="solid"/>
          </a:ln>
        </p:spPr>
      </p:sp>
      <p:sp>
        <p:nvSpPr>
          <p:cNvPr id="3" name="Text 1"/>
          <p:cNvSpPr/>
          <p:nvPr/>
        </p:nvSpPr>
        <p:spPr>
          <a:xfrm>
            <a:off x="365760" y="0"/>
            <a:ext cx="8412480" cy="822960"/>
          </a:xfrm>
          <a:prstGeom prst="rect">
            <a:avLst/>
          </a:prstGeom>
          <a:noFill/>
          <a:ln/>
        </p:spPr>
        <p:txBody>
          <a:bodyPr wrap="square" lIns="0" tIns="0" rIns="0" bIns="0" rtlCol="0" anchor="ctr"/>
          <a:lstStyle/>
          <a:p>
            <a:pPr indent="0" marL="0">
              <a:buNone/>
            </a:pPr>
            <a:r>
              <a:rPr lang="en-US" sz="2200" b="1" dirty="0">
                <a:solidFill>
                  <a:srgbClr val="FFFFFF"/>
                </a:solidFill>
              </a:rPr>
              <a:t>Étape 3 — Le traitement avec Apache Spark</a:t>
            </a:r>
            <a:endParaRPr lang="en-US" sz="2200" dirty="0"/>
          </a:p>
        </p:txBody>
      </p:sp>
      <p:sp>
        <p:nvSpPr>
          <p:cNvPr id="4" name="Text 2"/>
          <p:cNvSpPr/>
          <p:nvPr/>
        </p:nvSpPr>
        <p:spPr>
          <a:xfrm>
            <a:off x="457200" y="914400"/>
            <a:ext cx="8229600" cy="640080"/>
          </a:xfrm>
          <a:prstGeom prst="rect">
            <a:avLst/>
          </a:prstGeom>
          <a:noFill/>
          <a:ln/>
        </p:spPr>
        <p:txBody>
          <a:bodyPr wrap="square" rtlCol="0" anchor="ctr"/>
          <a:lstStyle/>
          <a:p>
            <a:pPr indent="0" marL="0">
              <a:buNone/>
            </a:pPr>
            <a:r>
              <a:rPr lang="en-US" sz="1300" dirty="0">
                <a:solidFill>
                  <a:srgbClr val="2C5F7A"/>
                </a:solidFill>
              </a:rPr>
              <a:t>Une fois les données brutes archivées, Apache Spark les relit pour produire des statistiques agrégées. Spark est conçu pour traiter de gros volumes de données rapidement, en distribuant le calcul.</a:t>
            </a:r>
            <a:endParaRPr lang="en-US" sz="1300" dirty="0"/>
          </a:p>
        </p:txBody>
      </p:sp>
      <p:sp>
        <p:nvSpPr>
          <p:cNvPr id="5" name="Shape 3"/>
          <p:cNvSpPr/>
          <p:nvPr/>
        </p:nvSpPr>
        <p:spPr>
          <a:xfrm>
            <a:off x="320040" y="1691640"/>
            <a:ext cx="2377440" cy="265176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20040" y="1691640"/>
            <a:ext cx="2377440" cy="384048"/>
          </a:xfrm>
          <a:prstGeom prst="rect">
            <a:avLst/>
          </a:prstGeom>
          <a:solidFill>
            <a:srgbClr val="065A82"/>
          </a:solidFill>
          <a:ln w="12700">
            <a:solidFill>
              <a:srgbClr val="065A82"/>
            </a:solidFill>
            <a:prstDash val="solid"/>
          </a:ln>
        </p:spPr>
      </p:sp>
      <p:sp>
        <p:nvSpPr>
          <p:cNvPr id="7" name="Text 5"/>
          <p:cNvSpPr/>
          <p:nvPr/>
        </p:nvSpPr>
        <p:spPr>
          <a:xfrm>
            <a:off x="320040" y="1691640"/>
            <a:ext cx="2377440" cy="384048"/>
          </a:xfrm>
          <a:prstGeom prst="rect">
            <a:avLst/>
          </a:prstGeom>
          <a:noFill/>
          <a:ln/>
        </p:spPr>
        <p:txBody>
          <a:bodyPr wrap="square" lIns="76200" tIns="76200" rIns="76200" bIns="76200" rtlCol="0" anchor="ctr"/>
          <a:lstStyle/>
          <a:p>
            <a:pPr indent="0" marL="0">
              <a:buNone/>
            </a:pPr>
            <a:r>
              <a:rPr lang="en-US" sz="1300" b="1" dirty="0">
                <a:solidFill>
                  <a:srgbClr val="FFFFFF"/>
                </a:solidFill>
              </a:rPr>
              <a:t>📥  Entrée</a:t>
            </a:r>
            <a:endParaRPr lang="en-US" sz="1300" dirty="0"/>
          </a:p>
        </p:txBody>
      </p:sp>
      <p:sp>
        <p:nvSpPr>
          <p:cNvPr id="8" name="Shape 6"/>
          <p:cNvSpPr/>
          <p:nvPr/>
        </p:nvSpPr>
        <p:spPr>
          <a:xfrm>
            <a:off x="438912" y="2212848"/>
            <a:ext cx="64008" cy="64008"/>
          </a:xfrm>
          <a:prstGeom prst="ellipse">
            <a:avLst/>
          </a:prstGeom>
          <a:solidFill>
            <a:srgbClr val="02C39A"/>
          </a:solidFill>
          <a:ln w="12700">
            <a:solidFill>
              <a:srgbClr val="02C39A"/>
            </a:solidFill>
            <a:prstDash val="solid"/>
          </a:ln>
        </p:spPr>
      </p:sp>
      <p:sp>
        <p:nvSpPr>
          <p:cNvPr id="9" name="Text 7"/>
          <p:cNvSpPr/>
          <p:nvPr/>
        </p:nvSpPr>
        <p:spPr>
          <a:xfrm>
            <a:off x="594360" y="2167128"/>
            <a:ext cx="2011680" cy="411480"/>
          </a:xfrm>
          <a:prstGeom prst="rect">
            <a:avLst/>
          </a:prstGeom>
          <a:noFill/>
          <a:ln/>
        </p:spPr>
        <p:txBody>
          <a:bodyPr wrap="square" lIns="0" tIns="0" rIns="0" bIns="0" rtlCol="0" anchor="ctr"/>
          <a:lstStyle/>
          <a:p>
            <a:pPr indent="0" marL="0">
              <a:buNone/>
            </a:pPr>
            <a:r>
              <a:rPr lang="en-US" sz="1100" dirty="0">
                <a:solidFill>
                  <a:srgbClr val="0D2D3E"/>
                </a:solidFill>
              </a:rPr>
              <a:t>Snapshots JSON bruts</a:t>
            </a:r>
            <a:endParaRPr lang="en-US" sz="1100" dirty="0"/>
          </a:p>
        </p:txBody>
      </p:sp>
      <p:sp>
        <p:nvSpPr>
          <p:cNvPr id="10" name="Shape 8"/>
          <p:cNvSpPr/>
          <p:nvPr/>
        </p:nvSpPr>
        <p:spPr>
          <a:xfrm>
            <a:off x="438912" y="2688336"/>
            <a:ext cx="64008" cy="64008"/>
          </a:xfrm>
          <a:prstGeom prst="ellipse">
            <a:avLst/>
          </a:prstGeom>
          <a:solidFill>
            <a:srgbClr val="02C39A"/>
          </a:solidFill>
          <a:ln w="12700">
            <a:solidFill>
              <a:srgbClr val="02C39A"/>
            </a:solidFill>
            <a:prstDash val="solid"/>
          </a:ln>
        </p:spPr>
      </p:sp>
      <p:sp>
        <p:nvSpPr>
          <p:cNvPr id="11" name="Text 9"/>
          <p:cNvSpPr/>
          <p:nvPr/>
        </p:nvSpPr>
        <p:spPr>
          <a:xfrm>
            <a:off x="594360" y="2642616"/>
            <a:ext cx="2011680" cy="411480"/>
          </a:xfrm>
          <a:prstGeom prst="rect">
            <a:avLst/>
          </a:prstGeom>
          <a:noFill/>
          <a:ln/>
        </p:spPr>
        <p:txBody>
          <a:bodyPr wrap="square" lIns="0" tIns="0" rIns="0" bIns="0" rtlCol="0" anchor="ctr"/>
          <a:lstStyle/>
          <a:p>
            <a:pPr indent="0" marL="0">
              <a:buNone/>
            </a:pPr>
            <a:r>
              <a:rPr lang="en-US" sz="1100" dirty="0">
                <a:solidFill>
                  <a:srgbClr val="0D2D3E"/>
                </a:solidFill>
              </a:rPr>
              <a:t>Stockés dans MinIO</a:t>
            </a:r>
            <a:endParaRPr lang="en-US" sz="1100" dirty="0"/>
          </a:p>
        </p:txBody>
      </p:sp>
      <p:sp>
        <p:nvSpPr>
          <p:cNvPr id="12" name="Shape 10"/>
          <p:cNvSpPr/>
          <p:nvPr/>
        </p:nvSpPr>
        <p:spPr>
          <a:xfrm>
            <a:off x="438912" y="3163824"/>
            <a:ext cx="64008" cy="64008"/>
          </a:xfrm>
          <a:prstGeom prst="ellipse">
            <a:avLst/>
          </a:prstGeom>
          <a:solidFill>
            <a:srgbClr val="02C39A"/>
          </a:solidFill>
          <a:ln w="12700">
            <a:solidFill>
              <a:srgbClr val="02C39A"/>
            </a:solidFill>
            <a:prstDash val="solid"/>
          </a:ln>
        </p:spPr>
      </p:sp>
      <p:sp>
        <p:nvSpPr>
          <p:cNvPr id="13" name="Text 11"/>
          <p:cNvSpPr/>
          <p:nvPr/>
        </p:nvSpPr>
        <p:spPr>
          <a:xfrm>
            <a:off x="594360" y="3118104"/>
            <a:ext cx="2011680" cy="411480"/>
          </a:xfrm>
          <a:prstGeom prst="rect">
            <a:avLst/>
          </a:prstGeom>
          <a:noFill/>
          <a:ln/>
        </p:spPr>
        <p:txBody>
          <a:bodyPr wrap="square" lIns="0" tIns="0" rIns="0" bIns="0" rtlCol="0" anchor="ctr"/>
          <a:lstStyle/>
          <a:p>
            <a:pPr indent="0" marL="0">
              <a:buNone/>
            </a:pPr>
            <a:r>
              <a:rPr lang="en-US" sz="1100" dirty="0">
                <a:solidFill>
                  <a:srgbClr val="0D2D3E"/>
                </a:solidFill>
              </a:rPr>
              <a:t>Parkings + Vélos</a:t>
            </a:r>
            <a:endParaRPr lang="en-US" sz="1100" dirty="0"/>
          </a:p>
        </p:txBody>
      </p:sp>
      <p:sp>
        <p:nvSpPr>
          <p:cNvPr id="14" name="Shape 12"/>
          <p:cNvSpPr/>
          <p:nvPr/>
        </p:nvSpPr>
        <p:spPr>
          <a:xfrm>
            <a:off x="438912" y="3639312"/>
            <a:ext cx="64008" cy="64008"/>
          </a:xfrm>
          <a:prstGeom prst="ellipse">
            <a:avLst/>
          </a:prstGeom>
          <a:solidFill>
            <a:srgbClr val="02C39A"/>
          </a:solidFill>
          <a:ln w="12700">
            <a:solidFill>
              <a:srgbClr val="02C39A"/>
            </a:solidFill>
            <a:prstDash val="solid"/>
          </a:ln>
        </p:spPr>
      </p:sp>
      <p:sp>
        <p:nvSpPr>
          <p:cNvPr id="15" name="Text 13"/>
          <p:cNvSpPr/>
          <p:nvPr/>
        </p:nvSpPr>
        <p:spPr>
          <a:xfrm>
            <a:off x="594360" y="3593592"/>
            <a:ext cx="2011680" cy="411480"/>
          </a:xfrm>
          <a:prstGeom prst="rect">
            <a:avLst/>
          </a:prstGeom>
          <a:noFill/>
          <a:ln/>
        </p:spPr>
        <p:txBody>
          <a:bodyPr wrap="square" lIns="0" tIns="0" rIns="0" bIns="0" rtlCol="0" anchor="ctr"/>
          <a:lstStyle/>
          <a:p>
            <a:pPr indent="0" marL="0">
              <a:buNone/>
            </a:pPr>
            <a:r>
              <a:rPr lang="en-US" sz="1100" dirty="0">
                <a:solidFill>
                  <a:srgbClr val="0D2D3E"/>
                </a:solidFill>
              </a:rPr>
              <a:t>Toutes les 15 min</a:t>
            </a:r>
            <a:endParaRPr lang="en-US" sz="1100" dirty="0"/>
          </a:p>
        </p:txBody>
      </p:sp>
      <p:sp>
        <p:nvSpPr>
          <p:cNvPr id="16" name="Text 14"/>
          <p:cNvSpPr/>
          <p:nvPr/>
        </p:nvSpPr>
        <p:spPr>
          <a:xfrm>
            <a:off x="2697480" y="2560320"/>
            <a:ext cx="640080" cy="5486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7" name="Shape 15"/>
          <p:cNvSpPr/>
          <p:nvPr/>
        </p:nvSpPr>
        <p:spPr>
          <a:xfrm>
            <a:off x="3337560" y="1691640"/>
            <a:ext cx="2468880" cy="265176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3337560" y="1691640"/>
            <a:ext cx="2468880" cy="384048"/>
          </a:xfrm>
          <a:prstGeom prst="rect">
            <a:avLst/>
          </a:prstGeom>
          <a:solidFill>
            <a:srgbClr val="E25922"/>
          </a:solidFill>
          <a:ln w="12700">
            <a:solidFill>
              <a:srgbClr val="E25922"/>
            </a:solidFill>
            <a:prstDash val="solid"/>
          </a:ln>
        </p:spPr>
      </p:sp>
      <p:sp>
        <p:nvSpPr>
          <p:cNvPr id="19" name="Text 17"/>
          <p:cNvSpPr/>
          <p:nvPr/>
        </p:nvSpPr>
        <p:spPr>
          <a:xfrm>
            <a:off x="3337560" y="1691640"/>
            <a:ext cx="2468880" cy="384048"/>
          </a:xfrm>
          <a:prstGeom prst="rect">
            <a:avLst/>
          </a:prstGeom>
          <a:noFill/>
          <a:ln/>
        </p:spPr>
        <p:txBody>
          <a:bodyPr wrap="square" lIns="76200" tIns="76200" rIns="76200" bIns="76200" rtlCol="0" anchor="ctr"/>
          <a:lstStyle/>
          <a:p>
            <a:pPr indent="0" marL="0">
              <a:buNone/>
            </a:pPr>
            <a:r>
              <a:rPr lang="en-US" sz="1300" b="1" dirty="0">
                <a:solidFill>
                  <a:srgbClr val="FFFFFF"/>
                </a:solidFill>
              </a:rPr>
              <a:t>⚡  Apache Spark</a:t>
            </a:r>
            <a:endParaRPr lang="en-US" sz="1300" dirty="0"/>
          </a:p>
        </p:txBody>
      </p:sp>
      <p:sp>
        <p:nvSpPr>
          <p:cNvPr id="20" name="Shape 18"/>
          <p:cNvSpPr/>
          <p:nvPr/>
        </p:nvSpPr>
        <p:spPr>
          <a:xfrm>
            <a:off x="3456432" y="2212848"/>
            <a:ext cx="64008" cy="64008"/>
          </a:xfrm>
          <a:prstGeom prst="ellipse">
            <a:avLst/>
          </a:prstGeom>
          <a:solidFill>
            <a:srgbClr val="02C39A"/>
          </a:solidFill>
          <a:ln w="12700">
            <a:solidFill>
              <a:srgbClr val="02C39A"/>
            </a:solidFill>
            <a:prstDash val="solid"/>
          </a:ln>
        </p:spPr>
      </p:sp>
      <p:sp>
        <p:nvSpPr>
          <p:cNvPr id="21" name="Text 19"/>
          <p:cNvSpPr/>
          <p:nvPr/>
        </p:nvSpPr>
        <p:spPr>
          <a:xfrm>
            <a:off x="3611880" y="2167128"/>
            <a:ext cx="2103120" cy="411480"/>
          </a:xfrm>
          <a:prstGeom prst="rect">
            <a:avLst/>
          </a:prstGeom>
          <a:noFill/>
          <a:ln/>
        </p:spPr>
        <p:txBody>
          <a:bodyPr wrap="square" lIns="0" tIns="0" rIns="0" bIns="0" rtlCol="0" anchor="ctr"/>
          <a:lstStyle/>
          <a:p>
            <a:pPr indent="0" marL="0">
              <a:buNone/>
            </a:pPr>
            <a:r>
              <a:rPr lang="en-US" sz="1100" dirty="0">
                <a:solidFill>
                  <a:srgbClr val="0D2D3E"/>
                </a:solidFill>
              </a:rPr>
              <a:t>Lit tous les JSON en parallèle</a:t>
            </a:r>
            <a:endParaRPr lang="en-US" sz="1100" dirty="0"/>
          </a:p>
        </p:txBody>
      </p:sp>
      <p:sp>
        <p:nvSpPr>
          <p:cNvPr id="22" name="Shape 20"/>
          <p:cNvSpPr/>
          <p:nvPr/>
        </p:nvSpPr>
        <p:spPr>
          <a:xfrm>
            <a:off x="3456432" y="2688336"/>
            <a:ext cx="64008" cy="64008"/>
          </a:xfrm>
          <a:prstGeom prst="ellipse">
            <a:avLst/>
          </a:prstGeom>
          <a:solidFill>
            <a:srgbClr val="02C39A"/>
          </a:solidFill>
          <a:ln w="12700">
            <a:solidFill>
              <a:srgbClr val="02C39A"/>
            </a:solidFill>
            <a:prstDash val="solid"/>
          </a:ln>
        </p:spPr>
      </p:sp>
      <p:sp>
        <p:nvSpPr>
          <p:cNvPr id="23" name="Text 21"/>
          <p:cNvSpPr/>
          <p:nvPr/>
        </p:nvSpPr>
        <p:spPr>
          <a:xfrm>
            <a:off x="3611880" y="2642616"/>
            <a:ext cx="2103120" cy="411480"/>
          </a:xfrm>
          <a:prstGeom prst="rect">
            <a:avLst/>
          </a:prstGeom>
          <a:noFill/>
          <a:ln/>
        </p:spPr>
        <p:txBody>
          <a:bodyPr wrap="square" lIns="0" tIns="0" rIns="0" bIns="0" rtlCol="0" anchor="ctr"/>
          <a:lstStyle/>
          <a:p>
            <a:pPr indent="0" marL="0">
              <a:buNone/>
            </a:pPr>
            <a:r>
              <a:rPr lang="en-US" sz="1100" dirty="0">
                <a:solidFill>
                  <a:srgbClr val="0D2D3E"/>
                </a:solidFill>
              </a:rPr>
              <a:t>Regroupe par parking et par heure</a:t>
            </a:r>
            <a:endParaRPr lang="en-US" sz="1100" dirty="0"/>
          </a:p>
        </p:txBody>
      </p:sp>
      <p:sp>
        <p:nvSpPr>
          <p:cNvPr id="24" name="Shape 22"/>
          <p:cNvSpPr/>
          <p:nvPr/>
        </p:nvSpPr>
        <p:spPr>
          <a:xfrm>
            <a:off x="3456432" y="3163824"/>
            <a:ext cx="64008" cy="64008"/>
          </a:xfrm>
          <a:prstGeom prst="ellipse">
            <a:avLst/>
          </a:prstGeom>
          <a:solidFill>
            <a:srgbClr val="02C39A"/>
          </a:solidFill>
          <a:ln w="12700">
            <a:solidFill>
              <a:srgbClr val="02C39A"/>
            </a:solidFill>
            <a:prstDash val="solid"/>
          </a:ln>
        </p:spPr>
      </p:sp>
      <p:sp>
        <p:nvSpPr>
          <p:cNvPr id="25" name="Text 23"/>
          <p:cNvSpPr/>
          <p:nvPr/>
        </p:nvSpPr>
        <p:spPr>
          <a:xfrm>
            <a:off x="3611880" y="3118104"/>
            <a:ext cx="2103120" cy="411480"/>
          </a:xfrm>
          <a:prstGeom prst="rect">
            <a:avLst/>
          </a:prstGeom>
          <a:noFill/>
          <a:ln/>
        </p:spPr>
        <p:txBody>
          <a:bodyPr wrap="square" lIns="0" tIns="0" rIns="0" bIns="0" rtlCol="0" anchor="ctr"/>
          <a:lstStyle/>
          <a:p>
            <a:pPr indent="0" marL="0">
              <a:buNone/>
            </a:pPr>
            <a:r>
              <a:rPr lang="en-US" sz="1100" dirty="0">
                <a:solidFill>
                  <a:srgbClr val="0D2D3E"/>
                </a:solidFill>
              </a:rPr>
              <a:t>Calcule moy. / min / max des places</a:t>
            </a:r>
            <a:endParaRPr lang="en-US" sz="1100" dirty="0"/>
          </a:p>
        </p:txBody>
      </p:sp>
      <p:sp>
        <p:nvSpPr>
          <p:cNvPr id="26" name="Shape 24"/>
          <p:cNvSpPr/>
          <p:nvPr/>
        </p:nvSpPr>
        <p:spPr>
          <a:xfrm>
            <a:off x="3456432" y="3639312"/>
            <a:ext cx="64008" cy="64008"/>
          </a:xfrm>
          <a:prstGeom prst="ellipse">
            <a:avLst/>
          </a:prstGeom>
          <a:solidFill>
            <a:srgbClr val="02C39A"/>
          </a:solidFill>
          <a:ln w="12700">
            <a:solidFill>
              <a:srgbClr val="02C39A"/>
            </a:solidFill>
            <a:prstDash val="solid"/>
          </a:ln>
        </p:spPr>
      </p:sp>
      <p:sp>
        <p:nvSpPr>
          <p:cNvPr id="27" name="Text 25"/>
          <p:cNvSpPr/>
          <p:nvPr/>
        </p:nvSpPr>
        <p:spPr>
          <a:xfrm>
            <a:off x="3611880" y="3593592"/>
            <a:ext cx="2103120" cy="411480"/>
          </a:xfrm>
          <a:prstGeom prst="rect">
            <a:avLst/>
          </a:prstGeom>
          <a:noFill/>
          <a:ln/>
        </p:spPr>
        <p:txBody>
          <a:bodyPr wrap="square" lIns="0" tIns="0" rIns="0" bIns="0" rtlCol="0" anchor="ctr"/>
          <a:lstStyle/>
          <a:p>
            <a:pPr indent="0" marL="0">
              <a:buNone/>
            </a:pPr>
            <a:r>
              <a:rPr lang="en-US" sz="1100" dirty="0">
                <a:solidFill>
                  <a:srgbClr val="0D2D3E"/>
                </a:solidFill>
              </a:rPr>
              <a:t>Moyenne mobile sur 3 heures</a:t>
            </a:r>
            <a:endParaRPr lang="en-US" sz="1100" dirty="0"/>
          </a:p>
        </p:txBody>
      </p:sp>
      <p:sp>
        <p:nvSpPr>
          <p:cNvPr id="28" name="Text 26"/>
          <p:cNvSpPr/>
          <p:nvPr/>
        </p:nvSpPr>
        <p:spPr>
          <a:xfrm>
            <a:off x="5806440" y="2560320"/>
            <a:ext cx="502920" cy="548640"/>
          </a:xfrm>
          <a:prstGeom prst="rect">
            <a:avLst/>
          </a:prstGeom>
          <a:noFill/>
          <a:ln/>
        </p:spPr>
        <p:txBody>
          <a:bodyPr wrap="square" lIns="0" tIns="0" rIns="0" bIns="0" rtlCol="0" anchor="ctr"/>
          <a:lstStyle/>
          <a:p>
            <a:pPr algn="ctr" indent="0" marL="0">
              <a:buNone/>
            </a:pPr>
            <a:r>
              <a:rPr lang="en-US" sz="2200" b="1" dirty="0">
                <a:solidFill>
                  <a:srgbClr val="02C39A"/>
                </a:solidFill>
              </a:rPr>
              <a:t>→</a:t>
            </a:r>
            <a:endParaRPr lang="en-US" sz="2200" dirty="0"/>
          </a:p>
        </p:txBody>
      </p:sp>
      <p:sp>
        <p:nvSpPr>
          <p:cNvPr id="29" name="Shape 27"/>
          <p:cNvSpPr/>
          <p:nvPr/>
        </p:nvSpPr>
        <p:spPr>
          <a:xfrm>
            <a:off x="6309360" y="1691640"/>
            <a:ext cx="2514600" cy="265176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6309360" y="1691640"/>
            <a:ext cx="2514600" cy="384048"/>
          </a:xfrm>
          <a:prstGeom prst="rect">
            <a:avLst/>
          </a:prstGeom>
          <a:solidFill>
            <a:srgbClr val="02A896"/>
          </a:solidFill>
          <a:ln w="12700">
            <a:solidFill>
              <a:srgbClr val="02A896"/>
            </a:solidFill>
            <a:prstDash val="solid"/>
          </a:ln>
        </p:spPr>
      </p:sp>
      <p:sp>
        <p:nvSpPr>
          <p:cNvPr id="31" name="Text 29"/>
          <p:cNvSpPr/>
          <p:nvPr/>
        </p:nvSpPr>
        <p:spPr>
          <a:xfrm>
            <a:off x="6309360" y="1691640"/>
            <a:ext cx="2514600" cy="384048"/>
          </a:xfrm>
          <a:prstGeom prst="rect">
            <a:avLst/>
          </a:prstGeom>
          <a:noFill/>
          <a:ln/>
        </p:spPr>
        <p:txBody>
          <a:bodyPr wrap="square" lIns="76200" tIns="76200" rIns="76200" bIns="76200" rtlCol="0" anchor="ctr"/>
          <a:lstStyle/>
          <a:p>
            <a:pPr indent="0" marL="0">
              <a:buNone/>
            </a:pPr>
            <a:r>
              <a:rPr lang="en-US" sz="1300" b="1" dirty="0">
                <a:solidFill>
                  <a:srgbClr val="FFFFFF"/>
                </a:solidFill>
              </a:rPr>
              <a:t>📤  Sortie</a:t>
            </a:r>
            <a:endParaRPr lang="en-US" sz="1300" dirty="0"/>
          </a:p>
        </p:txBody>
      </p:sp>
      <p:sp>
        <p:nvSpPr>
          <p:cNvPr id="32" name="Shape 30"/>
          <p:cNvSpPr/>
          <p:nvPr/>
        </p:nvSpPr>
        <p:spPr>
          <a:xfrm>
            <a:off x="6428232" y="2212848"/>
            <a:ext cx="64008" cy="64008"/>
          </a:xfrm>
          <a:prstGeom prst="ellipse">
            <a:avLst/>
          </a:prstGeom>
          <a:solidFill>
            <a:srgbClr val="02C39A"/>
          </a:solidFill>
          <a:ln w="12700">
            <a:solidFill>
              <a:srgbClr val="02C39A"/>
            </a:solidFill>
            <a:prstDash val="solid"/>
          </a:ln>
        </p:spPr>
      </p:sp>
      <p:sp>
        <p:nvSpPr>
          <p:cNvPr id="33" name="Text 31"/>
          <p:cNvSpPr/>
          <p:nvPr/>
        </p:nvSpPr>
        <p:spPr>
          <a:xfrm>
            <a:off x="6583680" y="2167128"/>
            <a:ext cx="2103120" cy="411480"/>
          </a:xfrm>
          <a:prstGeom prst="rect">
            <a:avLst/>
          </a:prstGeom>
          <a:noFill/>
          <a:ln/>
        </p:spPr>
        <p:txBody>
          <a:bodyPr wrap="square" lIns="0" tIns="0" rIns="0" bIns="0" rtlCol="0" anchor="ctr"/>
          <a:lstStyle/>
          <a:p>
            <a:pPr indent="0" marL="0">
              <a:buNone/>
            </a:pPr>
            <a:r>
              <a:rPr lang="en-US" sz="1100" dirty="0">
                <a:solidFill>
                  <a:srgbClr val="0D2D3E"/>
                </a:solidFill>
              </a:rPr>
              <a:t>Fichiers Parquet</a:t>
            </a:r>
            <a:endParaRPr lang="en-US" sz="1100" dirty="0"/>
          </a:p>
        </p:txBody>
      </p:sp>
      <p:sp>
        <p:nvSpPr>
          <p:cNvPr id="34" name="Shape 32"/>
          <p:cNvSpPr/>
          <p:nvPr/>
        </p:nvSpPr>
        <p:spPr>
          <a:xfrm>
            <a:off x="6428232" y="2688336"/>
            <a:ext cx="64008" cy="64008"/>
          </a:xfrm>
          <a:prstGeom prst="ellipse">
            <a:avLst/>
          </a:prstGeom>
          <a:solidFill>
            <a:srgbClr val="02C39A"/>
          </a:solidFill>
          <a:ln w="12700">
            <a:solidFill>
              <a:srgbClr val="02C39A"/>
            </a:solidFill>
            <a:prstDash val="solid"/>
          </a:ln>
        </p:spPr>
      </p:sp>
      <p:sp>
        <p:nvSpPr>
          <p:cNvPr id="35" name="Text 33"/>
          <p:cNvSpPr/>
          <p:nvPr/>
        </p:nvSpPr>
        <p:spPr>
          <a:xfrm>
            <a:off x="6583680" y="2642616"/>
            <a:ext cx="2103120" cy="411480"/>
          </a:xfrm>
          <a:prstGeom prst="rect">
            <a:avLst/>
          </a:prstGeom>
          <a:noFill/>
          <a:ln/>
        </p:spPr>
        <p:txBody>
          <a:bodyPr wrap="square" lIns="0" tIns="0" rIns="0" bIns="0" rtlCol="0" anchor="ctr"/>
          <a:lstStyle/>
          <a:p>
            <a:pPr indent="0" marL="0">
              <a:buNone/>
            </a:pPr>
            <a:r>
              <a:rPr lang="en-US" sz="1100" dirty="0">
                <a:solidFill>
                  <a:srgbClr val="0D2D3E"/>
                </a:solidFill>
              </a:rPr>
              <a:t>Partitionnés par date</a:t>
            </a:r>
            <a:endParaRPr lang="en-US" sz="1100" dirty="0"/>
          </a:p>
        </p:txBody>
      </p:sp>
      <p:sp>
        <p:nvSpPr>
          <p:cNvPr id="36" name="Shape 34"/>
          <p:cNvSpPr/>
          <p:nvPr/>
        </p:nvSpPr>
        <p:spPr>
          <a:xfrm>
            <a:off x="6428232" y="3163824"/>
            <a:ext cx="64008" cy="64008"/>
          </a:xfrm>
          <a:prstGeom prst="ellipse">
            <a:avLst/>
          </a:prstGeom>
          <a:solidFill>
            <a:srgbClr val="02C39A"/>
          </a:solidFill>
          <a:ln w="12700">
            <a:solidFill>
              <a:srgbClr val="02C39A"/>
            </a:solidFill>
            <a:prstDash val="solid"/>
          </a:ln>
        </p:spPr>
      </p:sp>
      <p:sp>
        <p:nvSpPr>
          <p:cNvPr id="37" name="Text 35"/>
          <p:cNvSpPr/>
          <p:nvPr/>
        </p:nvSpPr>
        <p:spPr>
          <a:xfrm>
            <a:off x="6583680" y="3118104"/>
            <a:ext cx="2103120" cy="411480"/>
          </a:xfrm>
          <a:prstGeom prst="rect">
            <a:avLst/>
          </a:prstGeom>
          <a:noFill/>
          <a:ln/>
        </p:spPr>
        <p:txBody>
          <a:bodyPr wrap="square" lIns="0" tIns="0" rIns="0" bIns="0" rtlCol="0" anchor="ctr"/>
          <a:lstStyle/>
          <a:p>
            <a:pPr indent="0" marL="0">
              <a:buNone/>
            </a:pPr>
            <a:r>
              <a:rPr lang="en-US" sz="1100" dirty="0">
                <a:solidFill>
                  <a:srgbClr val="0D2D3E"/>
                </a:solidFill>
              </a:rPr>
              <a:t>Stockés dans MinIO</a:t>
            </a:r>
            <a:endParaRPr lang="en-US" sz="1100" dirty="0"/>
          </a:p>
        </p:txBody>
      </p:sp>
      <p:sp>
        <p:nvSpPr>
          <p:cNvPr id="38" name="Shape 36"/>
          <p:cNvSpPr/>
          <p:nvPr/>
        </p:nvSpPr>
        <p:spPr>
          <a:xfrm>
            <a:off x="6428232" y="3639312"/>
            <a:ext cx="64008" cy="64008"/>
          </a:xfrm>
          <a:prstGeom prst="ellipse">
            <a:avLst/>
          </a:prstGeom>
          <a:solidFill>
            <a:srgbClr val="02C39A"/>
          </a:solidFill>
          <a:ln w="12700">
            <a:solidFill>
              <a:srgbClr val="02C39A"/>
            </a:solidFill>
            <a:prstDash val="solid"/>
          </a:ln>
        </p:spPr>
      </p:sp>
      <p:sp>
        <p:nvSpPr>
          <p:cNvPr id="39" name="Text 37"/>
          <p:cNvSpPr/>
          <p:nvPr/>
        </p:nvSpPr>
        <p:spPr>
          <a:xfrm>
            <a:off x="6583680" y="3593592"/>
            <a:ext cx="2103120" cy="411480"/>
          </a:xfrm>
          <a:prstGeom prst="rect">
            <a:avLst/>
          </a:prstGeom>
          <a:noFill/>
          <a:ln/>
        </p:spPr>
        <p:txBody>
          <a:bodyPr wrap="square" lIns="0" tIns="0" rIns="0" bIns="0" rtlCol="0" anchor="ctr"/>
          <a:lstStyle/>
          <a:p>
            <a:pPr indent="0" marL="0">
              <a:buNone/>
            </a:pPr>
            <a:r>
              <a:rPr lang="en-US" sz="1100" dirty="0">
                <a:solidFill>
                  <a:srgbClr val="0D2D3E"/>
                </a:solidFill>
              </a:rPr>
              <a:t>parkings-processed/</a:t>
            </a:r>
            <a:endParaRPr lang="en-US" sz="1100" dirty="0"/>
          </a:p>
        </p:txBody>
      </p:sp>
      <p:sp>
        <p:nvSpPr>
          <p:cNvPr id="40" name="Shape 38"/>
          <p:cNvSpPr/>
          <p:nvPr/>
        </p:nvSpPr>
        <p:spPr>
          <a:xfrm>
            <a:off x="320040" y="4526280"/>
            <a:ext cx="8503920" cy="365760"/>
          </a:xfrm>
          <a:prstGeom prst="rect">
            <a:avLst/>
          </a:prstGeom>
          <a:solidFill>
            <a:srgbClr val="EBF5FA"/>
          </a:solidFill>
          <a:ln w="12700">
            <a:solidFill>
              <a:srgbClr val="D8EEF6"/>
            </a:solidFill>
            <a:prstDash val="solid"/>
          </a:ln>
        </p:spPr>
      </p:sp>
      <p:sp>
        <p:nvSpPr>
          <p:cNvPr id="41" name="Text 39"/>
          <p:cNvSpPr/>
          <p:nvPr/>
        </p:nvSpPr>
        <p:spPr>
          <a:xfrm>
            <a:off x="411480" y="4526280"/>
            <a:ext cx="8321040" cy="365760"/>
          </a:xfrm>
          <a:prstGeom prst="rect">
            <a:avLst/>
          </a:prstGeom>
          <a:noFill/>
          <a:ln/>
        </p:spPr>
        <p:txBody>
          <a:bodyPr wrap="square" lIns="0" tIns="0" rIns="0" bIns="0" rtlCol="0" anchor="ctr"/>
          <a:lstStyle/>
          <a:p>
            <a:pPr indent="0" marL="0">
              <a:buNone/>
            </a:pPr>
            <a:r>
              <a:rPr lang="en-US" sz="1100" dirty="0">
                <a:solidFill>
                  <a:srgbClr val="2C5F7A"/>
                </a:solidFill>
              </a:rPr>
              <a:t>📌  Le format Parquet est 10× plus compact que le JSON brut et beaucoup plus rapide à requêter.</a:t>
            </a:r>
            <a:endParaRPr lang="en-US" sz="1100" dirty="0"/>
          </a:p>
        </p:txBody>
      </p:sp>
      <p:sp>
        <p:nvSpPr>
          <p:cNvPr id="42" name="Text 40"/>
          <p:cNvSpPr/>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6B9DB5"/>
                </a:solidFill>
              </a:rPr>
              <a:t>Big Data B2 — Sup de Vinci</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F8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65A82"/>
          </a:solidFill>
          <a:ln w="12700">
            <a:solidFill>
              <a:srgbClr val="065A82"/>
            </a:solidFill>
            <a:prstDash val="solid"/>
          </a:ln>
        </p:spPr>
      </p:sp>
      <p:sp>
        <p:nvSpPr>
          <p:cNvPr id="3" name="Text 1"/>
          <p:cNvSpPr/>
          <p:nvPr/>
        </p:nvSpPr>
        <p:spPr>
          <a:xfrm>
            <a:off x="365760" y="0"/>
            <a:ext cx="8412480" cy="822960"/>
          </a:xfrm>
          <a:prstGeom prst="rect">
            <a:avLst/>
          </a:prstGeom>
          <a:noFill/>
          <a:ln/>
        </p:spPr>
        <p:txBody>
          <a:bodyPr wrap="square" lIns="0" tIns="0" rIns="0" bIns="0" rtlCol="0" anchor="ctr"/>
          <a:lstStyle/>
          <a:p>
            <a:pPr indent="0" marL="0">
              <a:buNone/>
            </a:pPr>
            <a:r>
              <a:rPr lang="en-US" sz="2200" b="1" dirty="0">
                <a:solidFill>
                  <a:srgbClr val="FFFFFF"/>
                </a:solidFill>
              </a:rPr>
              <a:t>Étape 4 — La base de données (PostgreSQL)</a:t>
            </a:r>
            <a:endParaRPr lang="en-US" sz="2200" dirty="0"/>
          </a:p>
        </p:txBody>
      </p:sp>
      <p:sp>
        <p:nvSpPr>
          <p:cNvPr id="4" name="Text 2"/>
          <p:cNvSpPr/>
          <p:nvPr/>
        </p:nvSpPr>
        <p:spPr>
          <a:xfrm>
            <a:off x="457200" y="914400"/>
            <a:ext cx="8229600" cy="685800"/>
          </a:xfrm>
          <a:prstGeom prst="rect">
            <a:avLst/>
          </a:prstGeom>
          <a:noFill/>
          <a:ln/>
        </p:spPr>
        <p:txBody>
          <a:bodyPr wrap="square" rtlCol="0" anchor="ctr"/>
          <a:lstStyle/>
          <a:p>
            <a:pPr indent="0" marL="0">
              <a:buNone/>
            </a:pPr>
            <a:r>
              <a:rPr lang="en-US" sz="1300" dirty="0">
                <a:solidFill>
                  <a:srgbClr val="2C5F7A"/>
                </a:solidFill>
              </a:rPr>
              <a:t>PostgreSQL est notre entrepôt de données structurées. Contrairement au lac de données qui stocke tout en vrac, PostgreSQL organise les informations en tableaux cohérents et permet des requêtes rapides pour alimenter le tableau de bord.</a:t>
            </a:r>
            <a:endParaRPr lang="en-US" sz="1300" dirty="0"/>
          </a:p>
        </p:txBody>
      </p:sp>
      <p:sp>
        <p:nvSpPr>
          <p:cNvPr id="5" name="Shape 3"/>
          <p:cNvSpPr/>
          <p:nvPr/>
        </p:nvSpPr>
        <p:spPr>
          <a:xfrm>
            <a:off x="320040" y="1737360"/>
            <a:ext cx="2788920" cy="283464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20040" y="1737360"/>
            <a:ext cx="2788920" cy="457200"/>
          </a:xfrm>
          <a:prstGeom prst="rect">
            <a:avLst/>
          </a:prstGeom>
          <a:solidFill>
            <a:srgbClr val="065A82"/>
          </a:solidFill>
          <a:ln w="12700">
            <a:solidFill>
              <a:srgbClr val="065A82"/>
            </a:solidFill>
            <a:prstDash val="solid"/>
          </a:ln>
        </p:spPr>
      </p:sp>
      <p:sp>
        <p:nvSpPr>
          <p:cNvPr id="7" name="Text 5"/>
          <p:cNvSpPr/>
          <p:nvPr/>
        </p:nvSpPr>
        <p:spPr>
          <a:xfrm>
            <a:off x="411480" y="1737360"/>
            <a:ext cx="2606040" cy="274320"/>
          </a:xfrm>
          <a:prstGeom prst="rect">
            <a:avLst/>
          </a:prstGeom>
          <a:noFill/>
          <a:ln/>
        </p:spPr>
        <p:txBody>
          <a:bodyPr wrap="square" lIns="0" tIns="0" rIns="0" bIns="0" rtlCol="0" anchor="b"/>
          <a:lstStyle/>
          <a:p>
            <a:pPr indent="0" marL="0">
              <a:buNone/>
            </a:pPr>
            <a:r>
              <a:rPr lang="en-US" sz="1100" b="1" dirty="0">
                <a:solidFill>
                  <a:srgbClr val="FFFFFF"/>
                </a:solidFill>
              </a:rPr>
              <a:t>🏛️  parkings</a:t>
            </a:r>
            <a:endParaRPr lang="en-US" sz="1100" dirty="0"/>
          </a:p>
        </p:txBody>
      </p:sp>
      <p:sp>
        <p:nvSpPr>
          <p:cNvPr id="8" name="Text 6"/>
          <p:cNvSpPr/>
          <p:nvPr/>
        </p:nvSpPr>
        <p:spPr>
          <a:xfrm>
            <a:off x="411480" y="2011680"/>
            <a:ext cx="2606040" cy="182880"/>
          </a:xfrm>
          <a:prstGeom prst="rect">
            <a:avLst/>
          </a:prstGeom>
          <a:noFill/>
          <a:ln/>
        </p:spPr>
        <p:txBody>
          <a:bodyPr wrap="square" lIns="0" tIns="0" rIns="0" bIns="0" rtlCol="0" anchor="ctr"/>
          <a:lstStyle/>
          <a:p>
            <a:pPr indent="0" marL="0">
              <a:buNone/>
            </a:pPr>
            <a:r>
              <a:rPr lang="en-US" sz="850" dirty="0">
                <a:solidFill>
                  <a:srgbClr val="C8EEFA"/>
                </a:solidFill>
              </a:rPr>
              <a:t>Répertoire de référence</a:t>
            </a:r>
            <a:endParaRPr lang="en-US" sz="850" dirty="0"/>
          </a:p>
        </p:txBody>
      </p:sp>
      <p:sp>
        <p:nvSpPr>
          <p:cNvPr id="9" name="Shape 7"/>
          <p:cNvSpPr/>
          <p:nvPr/>
        </p:nvSpPr>
        <p:spPr>
          <a:xfrm>
            <a:off x="429768" y="2331720"/>
            <a:ext cx="64008" cy="64008"/>
          </a:xfrm>
          <a:prstGeom prst="ellipse">
            <a:avLst/>
          </a:prstGeom>
          <a:solidFill>
            <a:srgbClr val="02C39A"/>
          </a:solidFill>
          <a:ln w="12700">
            <a:solidFill>
              <a:srgbClr val="02C39A"/>
            </a:solidFill>
            <a:prstDash val="solid"/>
          </a:ln>
        </p:spPr>
      </p:sp>
      <p:sp>
        <p:nvSpPr>
          <p:cNvPr id="10" name="Text 8"/>
          <p:cNvSpPr/>
          <p:nvPr/>
        </p:nvSpPr>
        <p:spPr>
          <a:xfrm>
            <a:off x="594360" y="2286000"/>
            <a:ext cx="2423160" cy="384048"/>
          </a:xfrm>
          <a:prstGeom prst="rect">
            <a:avLst/>
          </a:prstGeom>
          <a:noFill/>
          <a:ln/>
        </p:spPr>
        <p:txBody>
          <a:bodyPr wrap="square" lIns="0" tIns="0" rIns="0" bIns="0" rtlCol="0" anchor="ctr"/>
          <a:lstStyle/>
          <a:p>
            <a:pPr indent="0" marL="0">
              <a:buNone/>
            </a:pPr>
            <a:r>
              <a:rPr lang="en-US" sz="1050" dirty="0">
                <a:solidFill>
                  <a:srgbClr val="0D2D3E"/>
                </a:solidFill>
              </a:rPr>
              <a:t>Identifiant unique</a:t>
            </a:r>
            <a:endParaRPr lang="en-US" sz="1050" dirty="0"/>
          </a:p>
        </p:txBody>
      </p:sp>
      <p:sp>
        <p:nvSpPr>
          <p:cNvPr id="11" name="Shape 9"/>
          <p:cNvSpPr/>
          <p:nvPr/>
        </p:nvSpPr>
        <p:spPr>
          <a:xfrm>
            <a:off x="429768" y="2761488"/>
            <a:ext cx="64008" cy="64008"/>
          </a:xfrm>
          <a:prstGeom prst="ellipse">
            <a:avLst/>
          </a:prstGeom>
          <a:solidFill>
            <a:srgbClr val="02C39A"/>
          </a:solidFill>
          <a:ln w="12700">
            <a:solidFill>
              <a:srgbClr val="02C39A"/>
            </a:solidFill>
            <a:prstDash val="solid"/>
          </a:ln>
        </p:spPr>
      </p:sp>
      <p:sp>
        <p:nvSpPr>
          <p:cNvPr id="12" name="Text 10"/>
          <p:cNvSpPr/>
          <p:nvPr/>
        </p:nvSpPr>
        <p:spPr>
          <a:xfrm>
            <a:off x="594360" y="2715768"/>
            <a:ext cx="2423160" cy="384048"/>
          </a:xfrm>
          <a:prstGeom prst="rect">
            <a:avLst/>
          </a:prstGeom>
          <a:noFill/>
          <a:ln/>
        </p:spPr>
        <p:txBody>
          <a:bodyPr wrap="square" lIns="0" tIns="0" rIns="0" bIns="0" rtlCol="0" anchor="ctr"/>
          <a:lstStyle/>
          <a:p>
            <a:pPr indent="0" marL="0">
              <a:buNone/>
            </a:pPr>
            <a:r>
              <a:rPr lang="en-US" sz="1050" dirty="0">
                <a:solidFill>
                  <a:srgbClr val="0D2D3E"/>
                </a:solidFill>
              </a:rPr>
              <a:t>Nom du parking</a:t>
            </a:r>
            <a:endParaRPr lang="en-US" sz="1050" dirty="0"/>
          </a:p>
        </p:txBody>
      </p:sp>
      <p:sp>
        <p:nvSpPr>
          <p:cNvPr id="13" name="Shape 11"/>
          <p:cNvSpPr/>
          <p:nvPr/>
        </p:nvSpPr>
        <p:spPr>
          <a:xfrm>
            <a:off x="429768" y="3191256"/>
            <a:ext cx="64008" cy="64008"/>
          </a:xfrm>
          <a:prstGeom prst="ellipse">
            <a:avLst/>
          </a:prstGeom>
          <a:solidFill>
            <a:srgbClr val="02C39A"/>
          </a:solidFill>
          <a:ln w="12700">
            <a:solidFill>
              <a:srgbClr val="02C39A"/>
            </a:solidFill>
            <a:prstDash val="solid"/>
          </a:ln>
        </p:spPr>
      </p:sp>
      <p:sp>
        <p:nvSpPr>
          <p:cNvPr id="14" name="Text 12"/>
          <p:cNvSpPr/>
          <p:nvPr/>
        </p:nvSpPr>
        <p:spPr>
          <a:xfrm>
            <a:off x="594360" y="3145536"/>
            <a:ext cx="2423160" cy="384048"/>
          </a:xfrm>
          <a:prstGeom prst="rect">
            <a:avLst/>
          </a:prstGeom>
          <a:noFill/>
          <a:ln/>
        </p:spPr>
        <p:txBody>
          <a:bodyPr wrap="square" lIns="0" tIns="0" rIns="0" bIns="0" rtlCol="0" anchor="ctr"/>
          <a:lstStyle/>
          <a:p>
            <a:pPr indent="0" marL="0">
              <a:buNone/>
            </a:pPr>
            <a:r>
              <a:rPr lang="en-US" sz="1050" dirty="0">
                <a:solidFill>
                  <a:srgbClr val="0D2D3E"/>
                </a:solidFill>
              </a:rPr>
              <a:t>Coordonnées GPS</a:t>
            </a:r>
            <a:endParaRPr lang="en-US" sz="1050" dirty="0"/>
          </a:p>
        </p:txBody>
      </p:sp>
      <p:sp>
        <p:nvSpPr>
          <p:cNvPr id="15" name="Shape 13"/>
          <p:cNvSpPr/>
          <p:nvPr/>
        </p:nvSpPr>
        <p:spPr>
          <a:xfrm>
            <a:off x="429768" y="3621024"/>
            <a:ext cx="64008" cy="64008"/>
          </a:xfrm>
          <a:prstGeom prst="ellipse">
            <a:avLst/>
          </a:prstGeom>
          <a:solidFill>
            <a:srgbClr val="02C39A"/>
          </a:solidFill>
          <a:ln w="12700">
            <a:solidFill>
              <a:srgbClr val="02C39A"/>
            </a:solidFill>
            <a:prstDash val="solid"/>
          </a:ln>
        </p:spPr>
      </p:sp>
      <p:sp>
        <p:nvSpPr>
          <p:cNvPr id="16" name="Text 14"/>
          <p:cNvSpPr/>
          <p:nvPr/>
        </p:nvSpPr>
        <p:spPr>
          <a:xfrm>
            <a:off x="594360" y="3575304"/>
            <a:ext cx="2423160" cy="384048"/>
          </a:xfrm>
          <a:prstGeom prst="rect">
            <a:avLst/>
          </a:prstGeom>
          <a:noFill/>
          <a:ln/>
        </p:spPr>
        <p:txBody>
          <a:bodyPr wrap="square" lIns="0" tIns="0" rIns="0" bIns="0" rtlCol="0" anchor="ctr"/>
          <a:lstStyle/>
          <a:p>
            <a:pPr indent="0" marL="0">
              <a:buNone/>
            </a:pPr>
            <a:r>
              <a:rPr lang="en-US" sz="1050" dirty="0">
                <a:solidFill>
                  <a:srgbClr val="0D2D3E"/>
                </a:solidFill>
              </a:rPr>
              <a:t>Capacité totale</a:t>
            </a:r>
            <a:endParaRPr lang="en-US" sz="1050" dirty="0"/>
          </a:p>
        </p:txBody>
      </p:sp>
      <p:sp>
        <p:nvSpPr>
          <p:cNvPr id="17" name="Shape 15"/>
          <p:cNvSpPr/>
          <p:nvPr/>
        </p:nvSpPr>
        <p:spPr>
          <a:xfrm>
            <a:off x="429768" y="4050792"/>
            <a:ext cx="64008" cy="64008"/>
          </a:xfrm>
          <a:prstGeom prst="ellipse">
            <a:avLst/>
          </a:prstGeom>
          <a:solidFill>
            <a:srgbClr val="02C39A"/>
          </a:solidFill>
          <a:ln w="12700">
            <a:solidFill>
              <a:srgbClr val="02C39A"/>
            </a:solidFill>
            <a:prstDash val="solid"/>
          </a:ln>
        </p:spPr>
      </p:sp>
      <p:sp>
        <p:nvSpPr>
          <p:cNvPr id="18" name="Text 16"/>
          <p:cNvSpPr/>
          <p:nvPr/>
        </p:nvSpPr>
        <p:spPr>
          <a:xfrm>
            <a:off x="594360" y="4005072"/>
            <a:ext cx="2423160" cy="384048"/>
          </a:xfrm>
          <a:prstGeom prst="rect">
            <a:avLst/>
          </a:prstGeom>
          <a:noFill/>
          <a:ln/>
        </p:spPr>
        <p:txBody>
          <a:bodyPr wrap="square" lIns="0" tIns="0" rIns="0" bIns="0" rtlCol="0" anchor="ctr"/>
          <a:lstStyle/>
          <a:p>
            <a:pPr indent="0" marL="0">
              <a:buNone/>
            </a:pPr>
            <a:r>
              <a:rPr lang="en-US" sz="1050" dirty="0">
                <a:solidFill>
                  <a:srgbClr val="0D2D3E"/>
                </a:solidFill>
              </a:rPr>
              <a:t>Source (Citedia / STAR)</a:t>
            </a:r>
            <a:endParaRPr lang="en-US" sz="1050" dirty="0"/>
          </a:p>
        </p:txBody>
      </p:sp>
      <p:sp>
        <p:nvSpPr>
          <p:cNvPr id="19" name="Shape 17"/>
          <p:cNvSpPr/>
          <p:nvPr/>
        </p:nvSpPr>
        <p:spPr>
          <a:xfrm>
            <a:off x="3246120" y="1737360"/>
            <a:ext cx="2788920" cy="283464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3246120" y="1737360"/>
            <a:ext cx="2788920" cy="457200"/>
          </a:xfrm>
          <a:prstGeom prst="rect">
            <a:avLst/>
          </a:prstGeom>
          <a:solidFill>
            <a:srgbClr val="1C7293"/>
          </a:solidFill>
          <a:ln w="12700">
            <a:solidFill>
              <a:srgbClr val="1C7293"/>
            </a:solidFill>
            <a:prstDash val="solid"/>
          </a:ln>
        </p:spPr>
      </p:sp>
      <p:sp>
        <p:nvSpPr>
          <p:cNvPr id="21" name="Text 19"/>
          <p:cNvSpPr/>
          <p:nvPr/>
        </p:nvSpPr>
        <p:spPr>
          <a:xfrm>
            <a:off x="3337560" y="1737360"/>
            <a:ext cx="2606040" cy="274320"/>
          </a:xfrm>
          <a:prstGeom prst="rect">
            <a:avLst/>
          </a:prstGeom>
          <a:noFill/>
          <a:ln/>
        </p:spPr>
        <p:txBody>
          <a:bodyPr wrap="square" lIns="0" tIns="0" rIns="0" bIns="0" rtlCol="0" anchor="b"/>
          <a:lstStyle/>
          <a:p>
            <a:pPr indent="0" marL="0">
              <a:buNone/>
            </a:pPr>
            <a:r>
              <a:rPr lang="en-US" sz="1100" b="1" dirty="0">
                <a:solidFill>
                  <a:srgbClr val="FFFFFF"/>
                </a:solidFill>
              </a:rPr>
              <a:t>🏛️  availability_snapshots</a:t>
            </a:r>
            <a:endParaRPr lang="en-US" sz="1100" dirty="0"/>
          </a:p>
        </p:txBody>
      </p:sp>
      <p:sp>
        <p:nvSpPr>
          <p:cNvPr id="22" name="Text 20"/>
          <p:cNvSpPr/>
          <p:nvPr/>
        </p:nvSpPr>
        <p:spPr>
          <a:xfrm>
            <a:off x="3337560" y="2011680"/>
            <a:ext cx="2606040" cy="182880"/>
          </a:xfrm>
          <a:prstGeom prst="rect">
            <a:avLst/>
          </a:prstGeom>
          <a:noFill/>
          <a:ln/>
        </p:spPr>
        <p:txBody>
          <a:bodyPr wrap="square" lIns="0" tIns="0" rIns="0" bIns="0" rtlCol="0" anchor="ctr"/>
          <a:lstStyle/>
          <a:p>
            <a:pPr indent="0" marL="0">
              <a:buNone/>
            </a:pPr>
            <a:r>
              <a:rPr lang="en-US" sz="850" dirty="0">
                <a:solidFill>
                  <a:srgbClr val="C8EEFA"/>
                </a:solidFill>
              </a:rPr>
              <a:t>Historique temps réel</a:t>
            </a:r>
            <a:endParaRPr lang="en-US" sz="850" dirty="0"/>
          </a:p>
        </p:txBody>
      </p:sp>
      <p:sp>
        <p:nvSpPr>
          <p:cNvPr id="23" name="Shape 21"/>
          <p:cNvSpPr/>
          <p:nvPr/>
        </p:nvSpPr>
        <p:spPr>
          <a:xfrm>
            <a:off x="3355848" y="2331720"/>
            <a:ext cx="64008" cy="64008"/>
          </a:xfrm>
          <a:prstGeom prst="ellipse">
            <a:avLst/>
          </a:prstGeom>
          <a:solidFill>
            <a:srgbClr val="02C39A"/>
          </a:solidFill>
          <a:ln w="12700">
            <a:solidFill>
              <a:srgbClr val="02C39A"/>
            </a:solidFill>
            <a:prstDash val="solid"/>
          </a:ln>
        </p:spPr>
      </p:sp>
      <p:sp>
        <p:nvSpPr>
          <p:cNvPr id="24" name="Text 22"/>
          <p:cNvSpPr/>
          <p:nvPr/>
        </p:nvSpPr>
        <p:spPr>
          <a:xfrm>
            <a:off x="3520440" y="2286000"/>
            <a:ext cx="2423160" cy="384048"/>
          </a:xfrm>
          <a:prstGeom prst="rect">
            <a:avLst/>
          </a:prstGeom>
          <a:noFill/>
          <a:ln/>
        </p:spPr>
        <p:txBody>
          <a:bodyPr wrap="square" lIns="0" tIns="0" rIns="0" bIns="0" rtlCol="0" anchor="ctr"/>
          <a:lstStyle/>
          <a:p>
            <a:pPr indent="0" marL="0">
              <a:buNone/>
            </a:pPr>
            <a:r>
              <a:rPr lang="en-US" sz="1050" dirty="0">
                <a:solidFill>
                  <a:srgbClr val="0D2D3E"/>
                </a:solidFill>
              </a:rPr>
              <a:t>Date et heure du snapshot</a:t>
            </a:r>
            <a:endParaRPr lang="en-US" sz="1050" dirty="0"/>
          </a:p>
        </p:txBody>
      </p:sp>
      <p:sp>
        <p:nvSpPr>
          <p:cNvPr id="25" name="Shape 23"/>
          <p:cNvSpPr/>
          <p:nvPr/>
        </p:nvSpPr>
        <p:spPr>
          <a:xfrm>
            <a:off x="3355848" y="2761488"/>
            <a:ext cx="64008" cy="64008"/>
          </a:xfrm>
          <a:prstGeom prst="ellipse">
            <a:avLst/>
          </a:prstGeom>
          <a:solidFill>
            <a:srgbClr val="02C39A"/>
          </a:solidFill>
          <a:ln w="12700">
            <a:solidFill>
              <a:srgbClr val="02C39A"/>
            </a:solidFill>
            <a:prstDash val="solid"/>
          </a:ln>
        </p:spPr>
      </p:sp>
      <p:sp>
        <p:nvSpPr>
          <p:cNvPr id="26" name="Text 24"/>
          <p:cNvSpPr/>
          <p:nvPr/>
        </p:nvSpPr>
        <p:spPr>
          <a:xfrm>
            <a:off x="3520440" y="2715768"/>
            <a:ext cx="2423160" cy="384048"/>
          </a:xfrm>
          <a:prstGeom prst="rect">
            <a:avLst/>
          </a:prstGeom>
          <a:noFill/>
          <a:ln/>
        </p:spPr>
        <p:txBody>
          <a:bodyPr wrap="square" lIns="0" tIns="0" rIns="0" bIns="0" rtlCol="0" anchor="ctr"/>
          <a:lstStyle/>
          <a:p>
            <a:pPr indent="0" marL="0">
              <a:buNone/>
            </a:pPr>
            <a:r>
              <a:rPr lang="en-US" sz="1050" dirty="0">
                <a:solidFill>
                  <a:srgbClr val="0D2D3E"/>
                </a:solidFill>
              </a:rPr>
              <a:t>Places libres / occupées</a:t>
            </a:r>
            <a:endParaRPr lang="en-US" sz="1050" dirty="0"/>
          </a:p>
        </p:txBody>
      </p:sp>
      <p:sp>
        <p:nvSpPr>
          <p:cNvPr id="27" name="Shape 25"/>
          <p:cNvSpPr/>
          <p:nvPr/>
        </p:nvSpPr>
        <p:spPr>
          <a:xfrm>
            <a:off x="3355848" y="3191256"/>
            <a:ext cx="64008" cy="64008"/>
          </a:xfrm>
          <a:prstGeom prst="ellipse">
            <a:avLst/>
          </a:prstGeom>
          <a:solidFill>
            <a:srgbClr val="02C39A"/>
          </a:solidFill>
          <a:ln w="12700">
            <a:solidFill>
              <a:srgbClr val="02C39A"/>
            </a:solidFill>
            <a:prstDash val="solid"/>
          </a:ln>
        </p:spPr>
      </p:sp>
      <p:sp>
        <p:nvSpPr>
          <p:cNvPr id="28" name="Text 26"/>
          <p:cNvSpPr/>
          <p:nvPr/>
        </p:nvSpPr>
        <p:spPr>
          <a:xfrm>
            <a:off x="3520440" y="3145536"/>
            <a:ext cx="2423160" cy="384048"/>
          </a:xfrm>
          <a:prstGeom prst="rect">
            <a:avLst/>
          </a:prstGeom>
          <a:noFill/>
          <a:ln/>
        </p:spPr>
        <p:txBody>
          <a:bodyPr wrap="square" lIns="0" tIns="0" rIns="0" bIns="0" rtlCol="0" anchor="ctr"/>
          <a:lstStyle/>
          <a:p>
            <a:pPr indent="0" marL="0">
              <a:buNone/>
            </a:pPr>
            <a:r>
              <a:rPr lang="en-US" sz="1050" dirty="0">
                <a:solidFill>
                  <a:srgbClr val="0D2D3E"/>
                </a:solidFill>
              </a:rPr>
              <a:t>Taux d'occupation</a:t>
            </a:r>
            <a:endParaRPr lang="en-US" sz="1050" dirty="0"/>
          </a:p>
        </p:txBody>
      </p:sp>
      <p:sp>
        <p:nvSpPr>
          <p:cNvPr id="29" name="Shape 27"/>
          <p:cNvSpPr/>
          <p:nvPr/>
        </p:nvSpPr>
        <p:spPr>
          <a:xfrm>
            <a:off x="3355848" y="3621024"/>
            <a:ext cx="64008" cy="64008"/>
          </a:xfrm>
          <a:prstGeom prst="ellipse">
            <a:avLst/>
          </a:prstGeom>
          <a:solidFill>
            <a:srgbClr val="02C39A"/>
          </a:solidFill>
          <a:ln w="12700">
            <a:solidFill>
              <a:srgbClr val="02C39A"/>
            </a:solidFill>
            <a:prstDash val="solid"/>
          </a:ln>
        </p:spPr>
      </p:sp>
      <p:sp>
        <p:nvSpPr>
          <p:cNvPr id="30" name="Text 28"/>
          <p:cNvSpPr/>
          <p:nvPr/>
        </p:nvSpPr>
        <p:spPr>
          <a:xfrm>
            <a:off x="3520440" y="3575304"/>
            <a:ext cx="2423160" cy="384048"/>
          </a:xfrm>
          <a:prstGeom prst="rect">
            <a:avLst/>
          </a:prstGeom>
          <a:noFill/>
          <a:ln/>
        </p:spPr>
        <p:txBody>
          <a:bodyPr wrap="square" lIns="0" tIns="0" rIns="0" bIns="0" rtlCol="0" anchor="ctr"/>
          <a:lstStyle/>
          <a:p>
            <a:pPr indent="0" marL="0">
              <a:buNone/>
            </a:pPr>
            <a:r>
              <a:rPr lang="en-US" sz="1050" dirty="0">
                <a:solidFill>
                  <a:srgbClr val="0D2D3E"/>
                </a:solidFill>
              </a:rPr>
              <a:t>Météo associée</a:t>
            </a:r>
            <a:endParaRPr lang="en-US" sz="1050" dirty="0"/>
          </a:p>
        </p:txBody>
      </p:sp>
      <p:sp>
        <p:nvSpPr>
          <p:cNvPr id="31" name="Shape 29"/>
          <p:cNvSpPr/>
          <p:nvPr/>
        </p:nvSpPr>
        <p:spPr>
          <a:xfrm>
            <a:off x="3355848" y="4050792"/>
            <a:ext cx="64008" cy="64008"/>
          </a:xfrm>
          <a:prstGeom prst="ellipse">
            <a:avLst/>
          </a:prstGeom>
          <a:solidFill>
            <a:srgbClr val="02C39A"/>
          </a:solidFill>
          <a:ln w="12700">
            <a:solidFill>
              <a:srgbClr val="02C39A"/>
            </a:solidFill>
            <a:prstDash val="solid"/>
          </a:ln>
        </p:spPr>
      </p:sp>
      <p:sp>
        <p:nvSpPr>
          <p:cNvPr id="32" name="Text 30"/>
          <p:cNvSpPr/>
          <p:nvPr/>
        </p:nvSpPr>
        <p:spPr>
          <a:xfrm>
            <a:off x="3520440" y="4005072"/>
            <a:ext cx="2423160" cy="384048"/>
          </a:xfrm>
          <a:prstGeom prst="rect">
            <a:avLst/>
          </a:prstGeom>
          <a:noFill/>
          <a:ln/>
        </p:spPr>
        <p:txBody>
          <a:bodyPr wrap="square" lIns="0" tIns="0" rIns="0" bIns="0" rtlCol="0" anchor="ctr"/>
          <a:lstStyle/>
          <a:p>
            <a:pPr indent="0" marL="0">
              <a:buNone/>
            </a:pPr>
            <a:r>
              <a:rPr lang="en-US" sz="1050" dirty="0">
                <a:solidFill>
                  <a:srgbClr val="0D2D3E"/>
                </a:solidFill>
              </a:rPr>
              <a:t>Statuts spéciaux (PMR…)</a:t>
            </a:r>
            <a:endParaRPr lang="en-US" sz="1050" dirty="0"/>
          </a:p>
        </p:txBody>
      </p:sp>
      <p:sp>
        <p:nvSpPr>
          <p:cNvPr id="33" name="Shape 31"/>
          <p:cNvSpPr/>
          <p:nvPr/>
        </p:nvSpPr>
        <p:spPr>
          <a:xfrm>
            <a:off x="6172200" y="1737360"/>
            <a:ext cx="2788920" cy="283464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34" name="Shape 32"/>
          <p:cNvSpPr/>
          <p:nvPr/>
        </p:nvSpPr>
        <p:spPr>
          <a:xfrm>
            <a:off x="6172200" y="1737360"/>
            <a:ext cx="2788920" cy="457200"/>
          </a:xfrm>
          <a:prstGeom prst="rect">
            <a:avLst/>
          </a:prstGeom>
          <a:solidFill>
            <a:srgbClr val="028090"/>
          </a:solidFill>
          <a:ln w="12700">
            <a:solidFill>
              <a:srgbClr val="028090"/>
            </a:solidFill>
            <a:prstDash val="solid"/>
          </a:ln>
        </p:spPr>
      </p:sp>
      <p:sp>
        <p:nvSpPr>
          <p:cNvPr id="35" name="Text 33"/>
          <p:cNvSpPr/>
          <p:nvPr/>
        </p:nvSpPr>
        <p:spPr>
          <a:xfrm>
            <a:off x="6263640" y="1737360"/>
            <a:ext cx="2606040" cy="274320"/>
          </a:xfrm>
          <a:prstGeom prst="rect">
            <a:avLst/>
          </a:prstGeom>
          <a:noFill/>
          <a:ln/>
        </p:spPr>
        <p:txBody>
          <a:bodyPr wrap="square" lIns="0" tIns="0" rIns="0" bIns="0" rtlCol="0" anchor="b"/>
          <a:lstStyle/>
          <a:p>
            <a:pPr indent="0" marL="0">
              <a:buNone/>
            </a:pPr>
            <a:r>
              <a:rPr lang="en-US" sz="1100" b="1" dirty="0">
                <a:solidFill>
                  <a:srgbClr val="FFFFFF"/>
                </a:solidFill>
              </a:rPr>
              <a:t>🏛️  weather_snapshots</a:t>
            </a:r>
            <a:endParaRPr lang="en-US" sz="1100" dirty="0"/>
          </a:p>
        </p:txBody>
      </p:sp>
      <p:sp>
        <p:nvSpPr>
          <p:cNvPr id="36" name="Text 34"/>
          <p:cNvSpPr/>
          <p:nvPr/>
        </p:nvSpPr>
        <p:spPr>
          <a:xfrm>
            <a:off x="6263640" y="2011680"/>
            <a:ext cx="2606040" cy="182880"/>
          </a:xfrm>
          <a:prstGeom prst="rect">
            <a:avLst/>
          </a:prstGeom>
          <a:noFill/>
          <a:ln/>
        </p:spPr>
        <p:txBody>
          <a:bodyPr wrap="square" lIns="0" tIns="0" rIns="0" bIns="0" rtlCol="0" anchor="ctr"/>
          <a:lstStyle/>
          <a:p>
            <a:pPr indent="0" marL="0">
              <a:buNone/>
            </a:pPr>
            <a:r>
              <a:rPr lang="en-US" sz="850" dirty="0">
                <a:solidFill>
                  <a:srgbClr val="C8EEFA"/>
                </a:solidFill>
              </a:rPr>
              <a:t>Historique météo</a:t>
            </a:r>
            <a:endParaRPr lang="en-US" sz="850" dirty="0"/>
          </a:p>
        </p:txBody>
      </p:sp>
      <p:sp>
        <p:nvSpPr>
          <p:cNvPr id="37" name="Shape 35"/>
          <p:cNvSpPr/>
          <p:nvPr/>
        </p:nvSpPr>
        <p:spPr>
          <a:xfrm>
            <a:off x="6281928" y="2331720"/>
            <a:ext cx="64008" cy="64008"/>
          </a:xfrm>
          <a:prstGeom prst="ellipse">
            <a:avLst/>
          </a:prstGeom>
          <a:solidFill>
            <a:srgbClr val="02C39A"/>
          </a:solidFill>
          <a:ln w="12700">
            <a:solidFill>
              <a:srgbClr val="02C39A"/>
            </a:solidFill>
            <a:prstDash val="solid"/>
          </a:ln>
        </p:spPr>
      </p:sp>
      <p:sp>
        <p:nvSpPr>
          <p:cNvPr id="38" name="Text 36"/>
          <p:cNvSpPr/>
          <p:nvPr/>
        </p:nvSpPr>
        <p:spPr>
          <a:xfrm>
            <a:off x="6446520" y="2286000"/>
            <a:ext cx="2423160" cy="384048"/>
          </a:xfrm>
          <a:prstGeom prst="rect">
            <a:avLst/>
          </a:prstGeom>
          <a:noFill/>
          <a:ln/>
        </p:spPr>
        <p:txBody>
          <a:bodyPr wrap="square" lIns="0" tIns="0" rIns="0" bIns="0" rtlCol="0" anchor="ctr"/>
          <a:lstStyle/>
          <a:p>
            <a:pPr indent="0" marL="0">
              <a:buNone/>
            </a:pPr>
            <a:r>
              <a:rPr lang="en-US" sz="1050" dirty="0">
                <a:solidFill>
                  <a:srgbClr val="0D2D3E"/>
                </a:solidFill>
              </a:rPr>
              <a:t>Date et heure</a:t>
            </a:r>
            <a:endParaRPr lang="en-US" sz="1050" dirty="0"/>
          </a:p>
        </p:txBody>
      </p:sp>
      <p:sp>
        <p:nvSpPr>
          <p:cNvPr id="39" name="Shape 37"/>
          <p:cNvSpPr/>
          <p:nvPr/>
        </p:nvSpPr>
        <p:spPr>
          <a:xfrm>
            <a:off x="6281928" y="2761488"/>
            <a:ext cx="64008" cy="64008"/>
          </a:xfrm>
          <a:prstGeom prst="ellipse">
            <a:avLst/>
          </a:prstGeom>
          <a:solidFill>
            <a:srgbClr val="02C39A"/>
          </a:solidFill>
          <a:ln w="12700">
            <a:solidFill>
              <a:srgbClr val="02C39A"/>
            </a:solidFill>
            <a:prstDash val="solid"/>
          </a:ln>
        </p:spPr>
      </p:sp>
      <p:sp>
        <p:nvSpPr>
          <p:cNvPr id="40" name="Text 38"/>
          <p:cNvSpPr/>
          <p:nvPr/>
        </p:nvSpPr>
        <p:spPr>
          <a:xfrm>
            <a:off x="6446520" y="2715768"/>
            <a:ext cx="2423160" cy="384048"/>
          </a:xfrm>
          <a:prstGeom prst="rect">
            <a:avLst/>
          </a:prstGeom>
          <a:noFill/>
          <a:ln/>
        </p:spPr>
        <p:txBody>
          <a:bodyPr wrap="square" lIns="0" tIns="0" rIns="0" bIns="0" rtlCol="0" anchor="ctr"/>
          <a:lstStyle/>
          <a:p>
            <a:pPr indent="0" marL="0">
              <a:buNone/>
            </a:pPr>
            <a:r>
              <a:rPr lang="en-US" sz="1050" dirty="0">
                <a:solidFill>
                  <a:srgbClr val="0D2D3E"/>
                </a:solidFill>
              </a:rPr>
              <a:t>Température</a:t>
            </a:r>
            <a:endParaRPr lang="en-US" sz="1050" dirty="0"/>
          </a:p>
        </p:txBody>
      </p:sp>
      <p:sp>
        <p:nvSpPr>
          <p:cNvPr id="41" name="Shape 39"/>
          <p:cNvSpPr/>
          <p:nvPr/>
        </p:nvSpPr>
        <p:spPr>
          <a:xfrm>
            <a:off x="6281928" y="3191256"/>
            <a:ext cx="64008" cy="64008"/>
          </a:xfrm>
          <a:prstGeom prst="ellipse">
            <a:avLst/>
          </a:prstGeom>
          <a:solidFill>
            <a:srgbClr val="02C39A"/>
          </a:solidFill>
          <a:ln w="12700">
            <a:solidFill>
              <a:srgbClr val="02C39A"/>
            </a:solidFill>
            <a:prstDash val="solid"/>
          </a:ln>
        </p:spPr>
      </p:sp>
      <p:sp>
        <p:nvSpPr>
          <p:cNvPr id="42" name="Text 40"/>
          <p:cNvSpPr/>
          <p:nvPr/>
        </p:nvSpPr>
        <p:spPr>
          <a:xfrm>
            <a:off x="6446520" y="3145536"/>
            <a:ext cx="2423160" cy="384048"/>
          </a:xfrm>
          <a:prstGeom prst="rect">
            <a:avLst/>
          </a:prstGeom>
          <a:noFill/>
          <a:ln/>
        </p:spPr>
        <p:txBody>
          <a:bodyPr wrap="square" lIns="0" tIns="0" rIns="0" bIns="0" rtlCol="0" anchor="ctr"/>
          <a:lstStyle/>
          <a:p>
            <a:pPr indent="0" marL="0">
              <a:buNone/>
            </a:pPr>
            <a:r>
              <a:rPr lang="en-US" sz="1050" dirty="0">
                <a:solidFill>
                  <a:srgbClr val="0D2D3E"/>
                </a:solidFill>
              </a:rPr>
              <a:t>Humidité / vent</a:t>
            </a:r>
            <a:endParaRPr lang="en-US" sz="1050" dirty="0"/>
          </a:p>
        </p:txBody>
      </p:sp>
      <p:sp>
        <p:nvSpPr>
          <p:cNvPr id="43" name="Shape 41"/>
          <p:cNvSpPr/>
          <p:nvPr/>
        </p:nvSpPr>
        <p:spPr>
          <a:xfrm>
            <a:off x="6281928" y="3621024"/>
            <a:ext cx="64008" cy="64008"/>
          </a:xfrm>
          <a:prstGeom prst="ellipse">
            <a:avLst/>
          </a:prstGeom>
          <a:solidFill>
            <a:srgbClr val="02C39A"/>
          </a:solidFill>
          <a:ln w="12700">
            <a:solidFill>
              <a:srgbClr val="02C39A"/>
            </a:solidFill>
            <a:prstDash val="solid"/>
          </a:ln>
        </p:spPr>
      </p:sp>
      <p:sp>
        <p:nvSpPr>
          <p:cNvPr id="44" name="Text 42"/>
          <p:cNvSpPr/>
          <p:nvPr/>
        </p:nvSpPr>
        <p:spPr>
          <a:xfrm>
            <a:off x="6446520" y="3575304"/>
            <a:ext cx="2423160" cy="384048"/>
          </a:xfrm>
          <a:prstGeom prst="rect">
            <a:avLst/>
          </a:prstGeom>
          <a:noFill/>
          <a:ln/>
        </p:spPr>
        <p:txBody>
          <a:bodyPr wrap="square" lIns="0" tIns="0" rIns="0" bIns="0" rtlCol="0" anchor="ctr"/>
          <a:lstStyle/>
          <a:p>
            <a:pPr indent="0" marL="0">
              <a:buNone/>
            </a:pPr>
            <a:r>
              <a:rPr lang="en-US" sz="1050" dirty="0">
                <a:solidFill>
                  <a:srgbClr val="0D2D3E"/>
                </a:solidFill>
              </a:rPr>
              <a:t>Description météo</a:t>
            </a:r>
            <a:endParaRPr lang="en-US" sz="1050" dirty="0"/>
          </a:p>
        </p:txBody>
      </p:sp>
      <p:sp>
        <p:nvSpPr>
          <p:cNvPr id="45" name="Shape 43"/>
          <p:cNvSpPr/>
          <p:nvPr/>
        </p:nvSpPr>
        <p:spPr>
          <a:xfrm>
            <a:off x="6281928" y="4050792"/>
            <a:ext cx="64008" cy="64008"/>
          </a:xfrm>
          <a:prstGeom prst="ellipse">
            <a:avLst/>
          </a:prstGeom>
          <a:solidFill>
            <a:srgbClr val="02C39A"/>
          </a:solidFill>
          <a:ln w="12700">
            <a:solidFill>
              <a:srgbClr val="02C39A"/>
            </a:solidFill>
            <a:prstDash val="solid"/>
          </a:ln>
        </p:spPr>
      </p:sp>
      <p:sp>
        <p:nvSpPr>
          <p:cNvPr id="46" name="Text 44"/>
          <p:cNvSpPr/>
          <p:nvPr/>
        </p:nvSpPr>
        <p:spPr>
          <a:xfrm>
            <a:off x="6446520" y="4005072"/>
            <a:ext cx="2423160" cy="384048"/>
          </a:xfrm>
          <a:prstGeom prst="rect">
            <a:avLst/>
          </a:prstGeom>
          <a:noFill/>
          <a:ln/>
        </p:spPr>
        <p:txBody>
          <a:bodyPr wrap="square" lIns="0" tIns="0" rIns="0" bIns="0" rtlCol="0" anchor="ctr"/>
          <a:lstStyle/>
          <a:p>
            <a:pPr indent="0" marL="0">
              <a:buNone/>
            </a:pPr>
            <a:r>
              <a:rPr lang="en-US" sz="1050" dirty="0">
                <a:solidFill>
                  <a:srgbClr val="0D2D3E"/>
                </a:solidFill>
              </a:rPr>
              <a:t>Erreur de collecte éventuelle</a:t>
            </a:r>
            <a:endParaRPr lang="en-US" sz="1050" dirty="0"/>
          </a:p>
        </p:txBody>
      </p:sp>
      <p:sp>
        <p:nvSpPr>
          <p:cNvPr id="47" name="Shape 45"/>
          <p:cNvSpPr/>
          <p:nvPr/>
        </p:nvSpPr>
        <p:spPr>
          <a:xfrm>
            <a:off x="320040" y="4663440"/>
            <a:ext cx="8503920" cy="347472"/>
          </a:xfrm>
          <a:prstGeom prst="rect">
            <a:avLst/>
          </a:prstGeom>
          <a:solidFill>
            <a:srgbClr val="E8F8F5"/>
          </a:solidFill>
          <a:ln w="12700">
            <a:solidFill>
              <a:srgbClr val="A8DACA"/>
            </a:solidFill>
            <a:prstDash val="solid"/>
          </a:ln>
        </p:spPr>
      </p:sp>
      <p:sp>
        <p:nvSpPr>
          <p:cNvPr id="48" name="Text 46"/>
          <p:cNvSpPr/>
          <p:nvPr/>
        </p:nvSpPr>
        <p:spPr>
          <a:xfrm>
            <a:off x="411480" y="4663440"/>
            <a:ext cx="8321040" cy="347472"/>
          </a:xfrm>
          <a:prstGeom prst="rect">
            <a:avLst/>
          </a:prstGeom>
          <a:noFill/>
          <a:ln/>
        </p:spPr>
        <p:txBody>
          <a:bodyPr wrap="square" lIns="0" tIns="0" rIns="0" bIns="0" rtlCol="0" anchor="ctr"/>
          <a:lstStyle/>
          <a:p>
            <a:pPr indent="0" marL="0">
              <a:buNone/>
            </a:pPr>
            <a:r>
              <a:rPr lang="en-US" sz="1100" dirty="0">
                <a:solidFill>
                  <a:srgbClr val="1A6352"/>
                </a:solidFill>
              </a:rPr>
              <a:t>🔄  Si PostgreSQL est inaccessible, le tableau de bord bascule automatiquement sur les données brutes de MinIO.</a:t>
            </a:r>
            <a:endParaRPr lang="en-US" sz="1100" dirty="0"/>
          </a:p>
        </p:txBody>
      </p:sp>
      <p:sp>
        <p:nvSpPr>
          <p:cNvPr id="49" name="Text 47"/>
          <p:cNvSpPr/>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6B9DB5"/>
                </a:solidFill>
              </a:rPr>
              <a:t>Big Data B2 — Sup de Vinci</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F8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65A82"/>
          </a:solidFill>
          <a:ln w="12700">
            <a:solidFill>
              <a:srgbClr val="065A82"/>
            </a:solidFill>
            <a:prstDash val="solid"/>
          </a:ln>
        </p:spPr>
      </p:sp>
      <p:sp>
        <p:nvSpPr>
          <p:cNvPr id="3" name="Text 1"/>
          <p:cNvSpPr/>
          <p:nvPr/>
        </p:nvSpPr>
        <p:spPr>
          <a:xfrm>
            <a:off x="365760" y="0"/>
            <a:ext cx="8412480" cy="822960"/>
          </a:xfrm>
          <a:prstGeom prst="rect">
            <a:avLst/>
          </a:prstGeom>
          <a:noFill/>
          <a:ln/>
        </p:spPr>
        <p:txBody>
          <a:bodyPr wrap="square" lIns="0" tIns="0" rIns="0" bIns="0" rtlCol="0" anchor="ctr"/>
          <a:lstStyle/>
          <a:p>
            <a:pPr indent="0" marL="0">
              <a:buNone/>
            </a:pPr>
            <a:r>
              <a:rPr lang="en-US" sz="2200" b="1" dirty="0">
                <a:solidFill>
                  <a:srgbClr val="FFFFFF"/>
                </a:solidFill>
              </a:rPr>
              <a:t>Étape 5 — Le tableau de bord (Streamlit)</a:t>
            </a:r>
            <a:endParaRPr lang="en-US" sz="2200" dirty="0"/>
          </a:p>
        </p:txBody>
      </p:sp>
      <p:sp>
        <p:nvSpPr>
          <p:cNvPr id="4" name="Text 2"/>
          <p:cNvSpPr/>
          <p:nvPr/>
        </p:nvSpPr>
        <p:spPr>
          <a:xfrm>
            <a:off x="457200" y="914400"/>
            <a:ext cx="8229600" cy="640080"/>
          </a:xfrm>
          <a:prstGeom prst="rect">
            <a:avLst/>
          </a:prstGeom>
          <a:noFill/>
          <a:ln/>
        </p:spPr>
        <p:txBody>
          <a:bodyPr wrap="square" rtlCol="0" anchor="ctr"/>
          <a:lstStyle/>
          <a:p>
            <a:pPr indent="0" marL="0">
              <a:buNone/>
            </a:pPr>
            <a:r>
              <a:rPr lang="en-US" sz="1300" dirty="0">
                <a:solidFill>
                  <a:srgbClr val="2C5F7A"/>
                </a:solidFill>
              </a:rPr>
              <a:t>Le tableau de bord est l'interface visible par l'utilisateur final. Développé avec Streamlit, il se rafraîchit automatiquement et se compose de 6 onglets, chacun dédié à un aspect différent des données.</a:t>
            </a:r>
            <a:endParaRPr lang="en-US" sz="1300" dirty="0"/>
          </a:p>
        </p:txBody>
      </p:sp>
      <p:sp>
        <p:nvSpPr>
          <p:cNvPr id="5" name="Shape 3"/>
          <p:cNvSpPr/>
          <p:nvPr/>
        </p:nvSpPr>
        <p:spPr>
          <a:xfrm>
            <a:off x="320040" y="1691640"/>
            <a:ext cx="2743200" cy="137160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320040" y="1691640"/>
            <a:ext cx="54864" cy="1371600"/>
          </a:xfrm>
          <a:prstGeom prst="rect">
            <a:avLst/>
          </a:prstGeom>
          <a:solidFill>
            <a:srgbClr val="02C39A"/>
          </a:solidFill>
          <a:ln w="12700">
            <a:solidFill>
              <a:srgbClr val="02C39A"/>
            </a:solidFill>
            <a:prstDash val="solid"/>
          </a:ln>
        </p:spPr>
      </p:sp>
      <p:sp>
        <p:nvSpPr>
          <p:cNvPr id="7" name="Text 5"/>
          <p:cNvSpPr/>
          <p:nvPr/>
        </p:nvSpPr>
        <p:spPr>
          <a:xfrm>
            <a:off x="457200" y="1764792"/>
            <a:ext cx="2560320" cy="320040"/>
          </a:xfrm>
          <a:prstGeom prst="rect">
            <a:avLst/>
          </a:prstGeom>
          <a:noFill/>
          <a:ln/>
        </p:spPr>
        <p:txBody>
          <a:bodyPr wrap="square" lIns="0" tIns="0" rIns="0" bIns="0" rtlCol="0" anchor="ctr"/>
          <a:lstStyle/>
          <a:p>
            <a:pPr indent="0" marL="0">
              <a:buNone/>
            </a:pPr>
            <a:r>
              <a:rPr lang="en-US" sz="1100" b="1" dirty="0">
                <a:solidFill>
                  <a:srgbClr val="065A82"/>
                </a:solidFill>
              </a:rPr>
              <a:t>🗺️  Carte interactive</a:t>
            </a:r>
            <a:endParaRPr lang="en-US" sz="1100" dirty="0"/>
          </a:p>
        </p:txBody>
      </p:sp>
      <p:sp>
        <p:nvSpPr>
          <p:cNvPr id="8" name="Text 6"/>
          <p:cNvSpPr/>
          <p:nvPr/>
        </p:nvSpPr>
        <p:spPr>
          <a:xfrm>
            <a:off x="457200" y="2103120"/>
            <a:ext cx="2560320" cy="914400"/>
          </a:xfrm>
          <a:prstGeom prst="rect">
            <a:avLst/>
          </a:prstGeom>
          <a:noFill/>
          <a:ln/>
        </p:spPr>
        <p:txBody>
          <a:bodyPr wrap="square" lIns="0" tIns="0" rIns="0" bIns="0" rtlCol="0" anchor="ctr"/>
          <a:lstStyle/>
          <a:p>
            <a:pPr indent="0" marL="0">
              <a:buNone/>
            </a:pPr>
            <a:r>
              <a:rPr lang="en-US" sz="1000" dirty="0">
                <a:solidFill>
                  <a:srgbClr val="0D2D3E"/>
                </a:solidFill>
              </a:rPr>
              <a:t>Carte Folium de Rennes avec un marqueur par parking. Les couleurs indiquent la disponibilité : vert (libre), orange (presque plein), rouge (plein).</a:t>
            </a:r>
            <a:endParaRPr lang="en-US" sz="1000" dirty="0"/>
          </a:p>
        </p:txBody>
      </p:sp>
      <p:sp>
        <p:nvSpPr>
          <p:cNvPr id="9" name="Shape 7"/>
          <p:cNvSpPr/>
          <p:nvPr/>
        </p:nvSpPr>
        <p:spPr>
          <a:xfrm>
            <a:off x="3200400" y="1691640"/>
            <a:ext cx="2743200" cy="137160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200400" y="1691640"/>
            <a:ext cx="54864" cy="1371600"/>
          </a:xfrm>
          <a:prstGeom prst="rect">
            <a:avLst/>
          </a:prstGeom>
          <a:solidFill>
            <a:srgbClr val="02C39A"/>
          </a:solidFill>
          <a:ln w="12700">
            <a:solidFill>
              <a:srgbClr val="02C39A"/>
            </a:solidFill>
            <a:prstDash val="solid"/>
          </a:ln>
        </p:spPr>
      </p:sp>
      <p:sp>
        <p:nvSpPr>
          <p:cNvPr id="11" name="Text 9"/>
          <p:cNvSpPr/>
          <p:nvPr/>
        </p:nvSpPr>
        <p:spPr>
          <a:xfrm>
            <a:off x="3337560" y="1764792"/>
            <a:ext cx="2560320" cy="320040"/>
          </a:xfrm>
          <a:prstGeom prst="rect">
            <a:avLst/>
          </a:prstGeom>
          <a:noFill/>
          <a:ln/>
        </p:spPr>
        <p:txBody>
          <a:bodyPr wrap="square" lIns="0" tIns="0" rIns="0" bIns="0" rtlCol="0" anchor="ctr"/>
          <a:lstStyle/>
          <a:p>
            <a:pPr indent="0" marL="0">
              <a:buNone/>
            </a:pPr>
            <a:r>
              <a:rPr lang="en-US" sz="1100" b="1" dirty="0">
                <a:solidFill>
                  <a:srgbClr val="065A82"/>
                </a:solidFill>
              </a:rPr>
              <a:t>📊  Statistiques</a:t>
            </a:r>
            <a:endParaRPr lang="en-US" sz="1100" dirty="0"/>
          </a:p>
        </p:txBody>
      </p:sp>
      <p:sp>
        <p:nvSpPr>
          <p:cNvPr id="12" name="Text 10"/>
          <p:cNvSpPr/>
          <p:nvPr/>
        </p:nvSpPr>
        <p:spPr>
          <a:xfrm>
            <a:off x="3337560" y="2103120"/>
            <a:ext cx="2560320" cy="914400"/>
          </a:xfrm>
          <a:prstGeom prst="rect">
            <a:avLst/>
          </a:prstGeom>
          <a:noFill/>
          <a:ln/>
        </p:spPr>
        <p:txBody>
          <a:bodyPr wrap="square" lIns="0" tIns="0" rIns="0" bIns="0" rtlCol="0" anchor="ctr"/>
          <a:lstStyle/>
          <a:p>
            <a:pPr indent="0" marL="0">
              <a:buNone/>
            </a:pPr>
            <a:r>
              <a:rPr lang="en-US" sz="1000" dirty="0">
                <a:solidFill>
                  <a:srgbClr val="0D2D3E"/>
                </a:solidFill>
              </a:rPr>
              <a:t>Indicateurs clés en temps réel : nombre total de places, taux d'occupation moyen, graphiques d'évolution sur les dernières heures.</a:t>
            </a:r>
            <a:endParaRPr lang="en-US" sz="1000" dirty="0"/>
          </a:p>
        </p:txBody>
      </p:sp>
      <p:sp>
        <p:nvSpPr>
          <p:cNvPr id="13" name="Shape 11"/>
          <p:cNvSpPr/>
          <p:nvPr/>
        </p:nvSpPr>
        <p:spPr>
          <a:xfrm>
            <a:off x="6080760" y="1691640"/>
            <a:ext cx="2743200" cy="137160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6080760" y="1691640"/>
            <a:ext cx="54864" cy="1371600"/>
          </a:xfrm>
          <a:prstGeom prst="rect">
            <a:avLst/>
          </a:prstGeom>
          <a:solidFill>
            <a:srgbClr val="02C39A"/>
          </a:solidFill>
          <a:ln w="12700">
            <a:solidFill>
              <a:srgbClr val="02C39A"/>
            </a:solidFill>
            <a:prstDash val="solid"/>
          </a:ln>
        </p:spPr>
      </p:sp>
      <p:sp>
        <p:nvSpPr>
          <p:cNvPr id="15" name="Text 13"/>
          <p:cNvSpPr/>
          <p:nvPr/>
        </p:nvSpPr>
        <p:spPr>
          <a:xfrm>
            <a:off x="6217920" y="1764792"/>
            <a:ext cx="2560320" cy="320040"/>
          </a:xfrm>
          <a:prstGeom prst="rect">
            <a:avLst/>
          </a:prstGeom>
          <a:noFill/>
          <a:ln/>
        </p:spPr>
        <p:txBody>
          <a:bodyPr wrap="square" lIns="0" tIns="0" rIns="0" bIns="0" rtlCol="0" anchor="ctr"/>
          <a:lstStyle/>
          <a:p>
            <a:pPr indent="0" marL="0">
              <a:buNone/>
            </a:pPr>
            <a:r>
              <a:rPr lang="en-US" sz="1100" b="1" dirty="0">
                <a:solidFill>
                  <a:srgbClr val="065A82"/>
                </a:solidFill>
              </a:rPr>
              <a:t>📈  Historique</a:t>
            </a:r>
            <a:endParaRPr lang="en-US" sz="1100" dirty="0"/>
          </a:p>
        </p:txBody>
      </p:sp>
      <p:sp>
        <p:nvSpPr>
          <p:cNvPr id="16" name="Text 14"/>
          <p:cNvSpPr/>
          <p:nvPr/>
        </p:nvSpPr>
        <p:spPr>
          <a:xfrm>
            <a:off x="6217920" y="2103120"/>
            <a:ext cx="2560320" cy="914400"/>
          </a:xfrm>
          <a:prstGeom prst="rect">
            <a:avLst/>
          </a:prstGeom>
          <a:noFill/>
          <a:ln/>
        </p:spPr>
        <p:txBody>
          <a:bodyPr wrap="square" lIns="0" tIns="0" rIns="0" bIns="0" rtlCol="0" anchor="ctr"/>
          <a:lstStyle/>
          <a:p>
            <a:pPr indent="0" marL="0">
              <a:buNone/>
            </a:pPr>
            <a:r>
              <a:rPr lang="en-US" sz="1000" dirty="0">
                <a:solidFill>
                  <a:srgbClr val="0D2D3E"/>
                </a:solidFill>
              </a:rPr>
              <a:t>Courbes d'évolution de l'occupation parking par parking. Permet de repérer les tendances et pics de fréquentation.</a:t>
            </a:r>
            <a:endParaRPr lang="en-US" sz="1000" dirty="0"/>
          </a:p>
        </p:txBody>
      </p:sp>
      <p:sp>
        <p:nvSpPr>
          <p:cNvPr id="17" name="Shape 15"/>
          <p:cNvSpPr/>
          <p:nvPr/>
        </p:nvSpPr>
        <p:spPr>
          <a:xfrm>
            <a:off x="320040" y="3200400"/>
            <a:ext cx="2743200" cy="137160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320040" y="3200400"/>
            <a:ext cx="54864" cy="1371600"/>
          </a:xfrm>
          <a:prstGeom prst="rect">
            <a:avLst/>
          </a:prstGeom>
          <a:solidFill>
            <a:srgbClr val="02C39A"/>
          </a:solidFill>
          <a:ln w="12700">
            <a:solidFill>
              <a:srgbClr val="02C39A"/>
            </a:solidFill>
            <a:prstDash val="solid"/>
          </a:ln>
        </p:spPr>
      </p:sp>
      <p:sp>
        <p:nvSpPr>
          <p:cNvPr id="19" name="Text 17"/>
          <p:cNvSpPr/>
          <p:nvPr/>
        </p:nvSpPr>
        <p:spPr>
          <a:xfrm>
            <a:off x="457200" y="3273552"/>
            <a:ext cx="2560320" cy="320040"/>
          </a:xfrm>
          <a:prstGeom prst="rect">
            <a:avLst/>
          </a:prstGeom>
          <a:noFill/>
          <a:ln/>
        </p:spPr>
        <p:txBody>
          <a:bodyPr wrap="square" lIns="0" tIns="0" rIns="0" bIns="0" rtlCol="0" anchor="ctr"/>
          <a:lstStyle/>
          <a:p>
            <a:pPr indent="0" marL="0">
              <a:buNone/>
            </a:pPr>
            <a:r>
              <a:rPr lang="en-US" sz="1100" b="1" dirty="0">
                <a:solidFill>
                  <a:srgbClr val="065A82"/>
                </a:solidFill>
              </a:rPr>
              <a:t>🌤️  Météo</a:t>
            </a:r>
            <a:endParaRPr lang="en-US" sz="1100" dirty="0"/>
          </a:p>
        </p:txBody>
      </p:sp>
      <p:sp>
        <p:nvSpPr>
          <p:cNvPr id="20" name="Text 18"/>
          <p:cNvSpPr/>
          <p:nvPr/>
        </p:nvSpPr>
        <p:spPr>
          <a:xfrm>
            <a:off x="457200" y="3611880"/>
            <a:ext cx="2560320" cy="914400"/>
          </a:xfrm>
          <a:prstGeom prst="rect">
            <a:avLst/>
          </a:prstGeom>
          <a:noFill/>
          <a:ln/>
        </p:spPr>
        <p:txBody>
          <a:bodyPr wrap="square" lIns="0" tIns="0" rIns="0" bIns="0" rtlCol="0" anchor="ctr"/>
          <a:lstStyle/>
          <a:p>
            <a:pPr indent="0" marL="0">
              <a:buNone/>
            </a:pPr>
            <a:r>
              <a:rPr lang="en-US" sz="1000" dirty="0">
                <a:solidFill>
                  <a:srgbClr val="0D2D3E"/>
                </a:solidFill>
              </a:rPr>
              <a:t>Données météo de Rennes en temps réel et leur corrélation avec l'occupation des parkings.</a:t>
            </a:r>
            <a:endParaRPr lang="en-US" sz="1000" dirty="0"/>
          </a:p>
        </p:txBody>
      </p:sp>
      <p:sp>
        <p:nvSpPr>
          <p:cNvPr id="21" name="Shape 19"/>
          <p:cNvSpPr/>
          <p:nvPr/>
        </p:nvSpPr>
        <p:spPr>
          <a:xfrm>
            <a:off x="3200400" y="3200400"/>
            <a:ext cx="2743200" cy="137160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3200400" y="3200400"/>
            <a:ext cx="54864" cy="1371600"/>
          </a:xfrm>
          <a:prstGeom prst="rect">
            <a:avLst/>
          </a:prstGeom>
          <a:solidFill>
            <a:srgbClr val="02C39A"/>
          </a:solidFill>
          <a:ln w="12700">
            <a:solidFill>
              <a:srgbClr val="02C39A"/>
            </a:solidFill>
            <a:prstDash val="solid"/>
          </a:ln>
        </p:spPr>
      </p:sp>
      <p:sp>
        <p:nvSpPr>
          <p:cNvPr id="23" name="Text 21"/>
          <p:cNvSpPr/>
          <p:nvPr/>
        </p:nvSpPr>
        <p:spPr>
          <a:xfrm>
            <a:off x="3337560" y="3273552"/>
            <a:ext cx="2560320" cy="320040"/>
          </a:xfrm>
          <a:prstGeom prst="rect">
            <a:avLst/>
          </a:prstGeom>
          <a:noFill/>
          <a:ln/>
        </p:spPr>
        <p:txBody>
          <a:bodyPr wrap="square" lIns="0" tIns="0" rIns="0" bIns="0" rtlCol="0" anchor="ctr"/>
          <a:lstStyle/>
          <a:p>
            <a:pPr indent="0" marL="0">
              <a:buNone/>
            </a:pPr>
            <a:r>
              <a:rPr lang="en-US" sz="1100" b="1" dirty="0">
                <a:solidFill>
                  <a:srgbClr val="065A82"/>
                </a:solidFill>
              </a:rPr>
              <a:t>🔍  Détail parking</a:t>
            </a:r>
            <a:endParaRPr lang="en-US" sz="1100" dirty="0"/>
          </a:p>
        </p:txBody>
      </p:sp>
      <p:sp>
        <p:nvSpPr>
          <p:cNvPr id="24" name="Text 22"/>
          <p:cNvSpPr/>
          <p:nvPr/>
        </p:nvSpPr>
        <p:spPr>
          <a:xfrm>
            <a:off x="3337560" y="3611880"/>
            <a:ext cx="2560320" cy="914400"/>
          </a:xfrm>
          <a:prstGeom prst="rect">
            <a:avLst/>
          </a:prstGeom>
          <a:noFill/>
          <a:ln/>
        </p:spPr>
        <p:txBody>
          <a:bodyPr wrap="square" lIns="0" tIns="0" rIns="0" bIns="0" rtlCol="0" anchor="ctr"/>
          <a:lstStyle/>
          <a:p>
            <a:pPr indent="0" marL="0">
              <a:buNone/>
            </a:pPr>
            <a:r>
              <a:rPr lang="en-US" sz="1000" dirty="0">
                <a:solidFill>
                  <a:srgbClr val="0D2D3E"/>
                </a:solidFill>
              </a:rPr>
              <a:t>Fiche détaillée d'un parking sélectionné : historique complet, places PMR/vélos/covoiturage.</a:t>
            </a:r>
            <a:endParaRPr lang="en-US" sz="1000" dirty="0"/>
          </a:p>
        </p:txBody>
      </p:sp>
      <p:sp>
        <p:nvSpPr>
          <p:cNvPr id="25" name="Shape 23"/>
          <p:cNvSpPr/>
          <p:nvPr/>
        </p:nvSpPr>
        <p:spPr>
          <a:xfrm>
            <a:off x="6080760" y="3200400"/>
            <a:ext cx="2743200" cy="137160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6080760" y="3200400"/>
            <a:ext cx="54864" cy="1371600"/>
          </a:xfrm>
          <a:prstGeom prst="rect">
            <a:avLst/>
          </a:prstGeom>
          <a:solidFill>
            <a:srgbClr val="02C39A"/>
          </a:solidFill>
          <a:ln w="12700">
            <a:solidFill>
              <a:srgbClr val="02C39A"/>
            </a:solidFill>
            <a:prstDash val="solid"/>
          </a:ln>
        </p:spPr>
      </p:sp>
      <p:sp>
        <p:nvSpPr>
          <p:cNvPr id="27" name="Text 25"/>
          <p:cNvSpPr/>
          <p:nvPr/>
        </p:nvSpPr>
        <p:spPr>
          <a:xfrm>
            <a:off x="6217920" y="3273552"/>
            <a:ext cx="2560320" cy="320040"/>
          </a:xfrm>
          <a:prstGeom prst="rect">
            <a:avLst/>
          </a:prstGeom>
          <a:noFill/>
          <a:ln/>
        </p:spPr>
        <p:txBody>
          <a:bodyPr wrap="square" lIns="0" tIns="0" rIns="0" bIns="0" rtlCol="0" anchor="ctr"/>
          <a:lstStyle/>
          <a:p>
            <a:pPr indent="0" marL="0">
              <a:buNone/>
            </a:pPr>
            <a:r>
              <a:rPr lang="en-US" sz="1100" b="1" dirty="0">
                <a:solidFill>
                  <a:srgbClr val="065A82"/>
                </a:solidFill>
              </a:rPr>
              <a:t>🗄️  Data Lake</a:t>
            </a:r>
            <a:endParaRPr lang="en-US" sz="1100" dirty="0"/>
          </a:p>
        </p:txBody>
      </p:sp>
      <p:sp>
        <p:nvSpPr>
          <p:cNvPr id="28" name="Text 26"/>
          <p:cNvSpPr/>
          <p:nvPr/>
        </p:nvSpPr>
        <p:spPr>
          <a:xfrm>
            <a:off x="6217920" y="3611880"/>
            <a:ext cx="2560320" cy="914400"/>
          </a:xfrm>
          <a:prstGeom prst="rect">
            <a:avLst/>
          </a:prstGeom>
          <a:noFill/>
          <a:ln/>
        </p:spPr>
        <p:txBody>
          <a:bodyPr wrap="square" lIns="0" tIns="0" rIns="0" bIns="0" rtlCol="0" anchor="ctr"/>
          <a:lstStyle/>
          <a:p>
            <a:pPr indent="0" marL="0">
              <a:buNone/>
            </a:pPr>
            <a:r>
              <a:rPr lang="en-US" sz="1000" dirty="0">
                <a:solidFill>
                  <a:srgbClr val="0D2D3E"/>
                </a:solidFill>
              </a:rPr>
              <a:t>Explorateur des fichiers bruts stockés dans MinIO : visualisation des derniers snapshots JSON collectés.</a:t>
            </a:r>
            <a:endParaRPr lang="en-US" sz="1000" dirty="0"/>
          </a:p>
        </p:txBody>
      </p:sp>
      <p:sp>
        <p:nvSpPr>
          <p:cNvPr id="29" name="Text 27"/>
          <p:cNvSpPr/>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6B9DB5"/>
                </a:solidFill>
              </a:rPr>
              <a:t>Big Data B2 — Sup de Vinci</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F8FC"/>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65A82"/>
          </a:solidFill>
          <a:ln w="12700">
            <a:solidFill>
              <a:srgbClr val="065A82"/>
            </a:solidFill>
            <a:prstDash val="solid"/>
          </a:ln>
        </p:spPr>
      </p:sp>
      <p:sp>
        <p:nvSpPr>
          <p:cNvPr id="3" name="Text 1"/>
          <p:cNvSpPr/>
          <p:nvPr/>
        </p:nvSpPr>
        <p:spPr>
          <a:xfrm>
            <a:off x="365760" y="0"/>
            <a:ext cx="8412480" cy="822960"/>
          </a:xfrm>
          <a:prstGeom prst="rect">
            <a:avLst/>
          </a:prstGeom>
          <a:noFill/>
          <a:ln/>
        </p:spPr>
        <p:txBody>
          <a:bodyPr wrap="square" lIns="0" tIns="0" rIns="0" bIns="0" rtlCol="0" anchor="ctr"/>
          <a:lstStyle/>
          <a:p>
            <a:pPr indent="0" marL="0">
              <a:buNone/>
            </a:pPr>
            <a:r>
              <a:rPr lang="en-US" sz="2200" b="1" dirty="0">
                <a:solidFill>
                  <a:srgbClr val="FFFFFF"/>
                </a:solidFill>
              </a:rPr>
              <a:t>L'infrastructure — Docker</a:t>
            </a:r>
            <a:endParaRPr lang="en-US" sz="2200" dirty="0"/>
          </a:p>
        </p:txBody>
      </p:sp>
      <p:sp>
        <p:nvSpPr>
          <p:cNvPr id="4" name="Text 2"/>
          <p:cNvSpPr/>
          <p:nvPr/>
        </p:nvSpPr>
        <p:spPr>
          <a:xfrm>
            <a:off x="457200" y="914400"/>
            <a:ext cx="8229600" cy="640080"/>
          </a:xfrm>
          <a:prstGeom prst="rect">
            <a:avLst/>
          </a:prstGeom>
          <a:noFill/>
          <a:ln/>
        </p:spPr>
        <p:txBody>
          <a:bodyPr wrap="square" rtlCol="0" anchor="ctr"/>
          <a:lstStyle/>
          <a:p>
            <a:pPr indent="0" marL="0">
              <a:buNone/>
            </a:pPr>
            <a:r>
              <a:rPr lang="en-US" sz="1300" dirty="0">
                <a:solidFill>
                  <a:srgbClr val="2C5F7A"/>
                </a:solidFill>
              </a:rPr>
              <a:t>L'ensemble du projet tourne dans des conteneurs Docker. Chaque service est isolé dans sa propre boîte et communique avec les autres via un réseau interne. Un seul fichier de configuration suffit pour tout démarrer.</a:t>
            </a:r>
            <a:endParaRPr lang="en-US" sz="1300" dirty="0"/>
          </a:p>
        </p:txBody>
      </p:sp>
      <p:sp>
        <p:nvSpPr>
          <p:cNvPr id="5" name="Shape 3"/>
          <p:cNvSpPr/>
          <p:nvPr/>
        </p:nvSpPr>
        <p:spPr>
          <a:xfrm>
            <a:off x="320040" y="1691640"/>
            <a:ext cx="8503920" cy="2834640"/>
          </a:xfrm>
          <a:prstGeom prst="rect">
            <a:avLst/>
          </a:prstGeom>
          <a:solidFill>
            <a:srgbClr val="F0F7FA"/>
          </a:solidFill>
          <a:ln w="25400">
            <a:solidFill>
              <a:srgbClr val="D8EEF6"/>
            </a:solidFill>
            <a:prstDash val="solid"/>
          </a:ln>
        </p:spPr>
      </p:sp>
      <p:sp>
        <p:nvSpPr>
          <p:cNvPr id="6" name="Text 4"/>
          <p:cNvSpPr/>
          <p:nvPr/>
        </p:nvSpPr>
        <p:spPr>
          <a:xfrm>
            <a:off x="457200" y="1709928"/>
            <a:ext cx="8229600" cy="320040"/>
          </a:xfrm>
          <a:prstGeom prst="rect">
            <a:avLst/>
          </a:prstGeom>
          <a:noFill/>
          <a:ln/>
        </p:spPr>
        <p:txBody>
          <a:bodyPr wrap="square" lIns="0" tIns="0" rIns="0" bIns="0" rtlCol="0" anchor="ctr"/>
          <a:lstStyle/>
          <a:p>
            <a:pPr indent="0" marL="0">
              <a:buNone/>
            </a:pPr>
            <a:r>
              <a:rPr lang="en-US" sz="1100" i="1" dirty="0">
                <a:solidFill>
                  <a:srgbClr val="6B9DB5"/>
                </a:solidFill>
              </a:rPr>
              <a:t>🐳  Docker Compose — un seul fichier pour démarrer tous les services</a:t>
            </a:r>
            <a:endParaRPr lang="en-US" sz="1100" dirty="0"/>
          </a:p>
        </p:txBody>
      </p:sp>
      <p:sp>
        <p:nvSpPr>
          <p:cNvPr id="7" name="Shape 5"/>
          <p:cNvSpPr/>
          <p:nvPr/>
        </p:nvSpPr>
        <p:spPr>
          <a:xfrm>
            <a:off x="502920" y="2103120"/>
            <a:ext cx="1920240" cy="210312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502920" y="2103120"/>
            <a:ext cx="1920240" cy="347472"/>
          </a:xfrm>
          <a:prstGeom prst="rect">
            <a:avLst/>
          </a:prstGeom>
          <a:solidFill>
            <a:srgbClr val="E25922"/>
          </a:solidFill>
          <a:ln w="12700">
            <a:solidFill>
              <a:srgbClr val="E25922"/>
            </a:solidFill>
            <a:prstDash val="solid"/>
          </a:ln>
        </p:spPr>
      </p:sp>
      <p:sp>
        <p:nvSpPr>
          <p:cNvPr id="9" name="Text 7"/>
          <p:cNvSpPr/>
          <p:nvPr/>
        </p:nvSpPr>
        <p:spPr>
          <a:xfrm>
            <a:off x="502920" y="2103120"/>
            <a:ext cx="1920240" cy="347472"/>
          </a:xfrm>
          <a:prstGeom prst="rect">
            <a:avLst/>
          </a:prstGeom>
          <a:noFill/>
          <a:ln/>
        </p:spPr>
        <p:txBody>
          <a:bodyPr wrap="square" lIns="63500" tIns="63500" rIns="63500" bIns="63500" rtlCol="0" anchor="ctr"/>
          <a:lstStyle/>
          <a:p>
            <a:pPr indent="0" marL="0">
              <a:buNone/>
            </a:pPr>
            <a:r>
              <a:rPr lang="en-US" sz="1200" b="1" dirty="0">
                <a:solidFill>
                  <a:srgbClr val="FFFFFF"/>
                </a:solidFill>
              </a:rPr>
              <a:t>⏱️  Airflow</a:t>
            </a:r>
            <a:endParaRPr lang="en-US" sz="1200" dirty="0"/>
          </a:p>
        </p:txBody>
      </p:sp>
      <p:sp>
        <p:nvSpPr>
          <p:cNvPr id="10" name="Text 8"/>
          <p:cNvSpPr/>
          <p:nvPr/>
        </p:nvSpPr>
        <p:spPr>
          <a:xfrm>
            <a:off x="594360" y="2907792"/>
            <a:ext cx="1737360" cy="640080"/>
          </a:xfrm>
          <a:prstGeom prst="rect">
            <a:avLst/>
          </a:prstGeom>
          <a:noFill/>
          <a:ln/>
        </p:spPr>
        <p:txBody>
          <a:bodyPr wrap="square" lIns="0" tIns="0" rIns="0" bIns="0" rtlCol="0" anchor="ctr"/>
          <a:lstStyle/>
          <a:p>
            <a:pPr algn="ctr" indent="0" marL="0">
              <a:buNone/>
            </a:pPr>
            <a:r>
              <a:rPr lang="en-US" sz="1000" dirty="0">
                <a:solidFill>
                  <a:srgbClr val="2C5F7A"/>
                </a:solidFill>
              </a:rPr>
              <a:t>Orchestrateur,</a:t>
            </a:r>
            <a:endParaRPr lang="en-US" sz="1000" dirty="0"/>
          </a:p>
          <a:p>
            <a:pPr algn="ctr" indent="0" marL="0">
              <a:buNone/>
            </a:pPr>
            <a:r>
              <a:rPr lang="en-US" sz="1000" dirty="0">
                <a:solidFill>
                  <a:srgbClr val="2C5F7A"/>
                </a:solidFill>
              </a:rPr>
              <a:t>interface web</a:t>
            </a:r>
            <a:endParaRPr lang="en-US" sz="1000" dirty="0"/>
          </a:p>
        </p:txBody>
      </p:sp>
      <p:sp>
        <p:nvSpPr>
          <p:cNvPr id="11" name="Shape 9"/>
          <p:cNvSpPr/>
          <p:nvPr/>
        </p:nvSpPr>
        <p:spPr>
          <a:xfrm>
            <a:off x="2587752" y="2103120"/>
            <a:ext cx="1920240" cy="210312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2587752" y="2103120"/>
            <a:ext cx="1920240" cy="347472"/>
          </a:xfrm>
          <a:prstGeom prst="rect">
            <a:avLst/>
          </a:prstGeom>
          <a:solidFill>
            <a:srgbClr val="C72E49"/>
          </a:solidFill>
          <a:ln w="12700">
            <a:solidFill>
              <a:srgbClr val="C72E49"/>
            </a:solidFill>
            <a:prstDash val="solid"/>
          </a:ln>
        </p:spPr>
      </p:sp>
      <p:sp>
        <p:nvSpPr>
          <p:cNvPr id="13" name="Text 11"/>
          <p:cNvSpPr/>
          <p:nvPr/>
        </p:nvSpPr>
        <p:spPr>
          <a:xfrm>
            <a:off x="2587752" y="2103120"/>
            <a:ext cx="1920240" cy="347472"/>
          </a:xfrm>
          <a:prstGeom prst="rect">
            <a:avLst/>
          </a:prstGeom>
          <a:noFill/>
          <a:ln/>
        </p:spPr>
        <p:txBody>
          <a:bodyPr wrap="square" lIns="63500" tIns="63500" rIns="63500" bIns="63500" rtlCol="0" anchor="ctr"/>
          <a:lstStyle/>
          <a:p>
            <a:pPr indent="0" marL="0">
              <a:buNone/>
            </a:pPr>
            <a:r>
              <a:rPr lang="en-US" sz="1200" b="1" dirty="0">
                <a:solidFill>
                  <a:srgbClr val="FFFFFF"/>
                </a:solidFill>
              </a:rPr>
              <a:t>🗄️  MinIO</a:t>
            </a:r>
            <a:endParaRPr lang="en-US" sz="1200" dirty="0"/>
          </a:p>
        </p:txBody>
      </p:sp>
      <p:sp>
        <p:nvSpPr>
          <p:cNvPr id="14" name="Shape 12"/>
          <p:cNvSpPr/>
          <p:nvPr/>
        </p:nvSpPr>
        <p:spPr>
          <a:xfrm>
            <a:off x="2862072" y="2542032"/>
            <a:ext cx="1371600" cy="274320"/>
          </a:xfrm>
          <a:prstGeom prst="roundRect">
            <a:avLst>
              <a:gd name="adj" fmla="val 16667"/>
            </a:avLst>
          </a:prstGeom>
          <a:solidFill>
            <a:srgbClr val="EBF5FA"/>
          </a:solidFill>
          <a:ln w="12700">
            <a:solidFill>
              <a:srgbClr val="D8EEF6"/>
            </a:solidFill>
            <a:prstDash val="solid"/>
          </a:ln>
        </p:spPr>
      </p:sp>
      <p:sp>
        <p:nvSpPr>
          <p:cNvPr id="15" name="Text 13"/>
          <p:cNvSpPr/>
          <p:nvPr/>
        </p:nvSpPr>
        <p:spPr>
          <a:xfrm>
            <a:off x="2862072" y="2542032"/>
            <a:ext cx="1371600" cy="274320"/>
          </a:xfrm>
          <a:prstGeom prst="rect">
            <a:avLst/>
          </a:prstGeom>
          <a:noFill/>
          <a:ln/>
        </p:spPr>
        <p:txBody>
          <a:bodyPr wrap="square" lIns="0" tIns="0" rIns="0" bIns="0" rtlCol="0" anchor="ctr"/>
          <a:lstStyle/>
          <a:p>
            <a:pPr algn="ctr" indent="0" marL="0">
              <a:buNone/>
            </a:pPr>
            <a:r>
              <a:rPr lang="en-US" sz="900" b="1" dirty="0">
                <a:solidFill>
                  <a:srgbClr val="1C7293"/>
                </a:solidFill>
              </a:rPr>
              <a:t>localhost:9001</a:t>
            </a:r>
            <a:endParaRPr lang="en-US" sz="900" dirty="0"/>
          </a:p>
        </p:txBody>
      </p:sp>
      <p:sp>
        <p:nvSpPr>
          <p:cNvPr id="16" name="Text 14"/>
          <p:cNvSpPr/>
          <p:nvPr/>
        </p:nvSpPr>
        <p:spPr>
          <a:xfrm>
            <a:off x="2679192" y="2907792"/>
            <a:ext cx="1737360" cy="640080"/>
          </a:xfrm>
          <a:prstGeom prst="rect">
            <a:avLst/>
          </a:prstGeom>
          <a:noFill/>
          <a:ln/>
        </p:spPr>
        <p:txBody>
          <a:bodyPr wrap="square" lIns="0" tIns="0" rIns="0" bIns="0" rtlCol="0" anchor="ctr"/>
          <a:lstStyle/>
          <a:p>
            <a:pPr algn="ctr" indent="0" marL="0">
              <a:buNone/>
            </a:pPr>
            <a:r>
              <a:rPr lang="en-US" sz="1000" dirty="0">
                <a:solidFill>
                  <a:srgbClr val="2C5F7A"/>
                </a:solidFill>
              </a:rPr>
              <a:t>Data Lake,</a:t>
            </a:r>
            <a:endParaRPr lang="en-US" sz="1000" dirty="0"/>
          </a:p>
          <a:p>
            <a:pPr algn="ctr" indent="0" marL="0">
              <a:buNone/>
            </a:pPr>
            <a:r>
              <a:rPr lang="en-US" sz="1000" dirty="0">
                <a:solidFill>
                  <a:srgbClr val="2C5F7A"/>
                </a:solidFill>
              </a:rPr>
              <a:t>console S3</a:t>
            </a:r>
            <a:endParaRPr lang="en-US" sz="1000" dirty="0"/>
          </a:p>
        </p:txBody>
      </p:sp>
      <p:sp>
        <p:nvSpPr>
          <p:cNvPr id="17" name="Shape 15"/>
          <p:cNvSpPr/>
          <p:nvPr/>
        </p:nvSpPr>
        <p:spPr>
          <a:xfrm>
            <a:off x="4672584" y="2103120"/>
            <a:ext cx="1920240" cy="210312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4672584" y="2103120"/>
            <a:ext cx="1920240" cy="347472"/>
          </a:xfrm>
          <a:prstGeom prst="rect">
            <a:avLst/>
          </a:prstGeom>
          <a:solidFill>
            <a:srgbClr val="336791"/>
          </a:solidFill>
          <a:ln w="12700">
            <a:solidFill>
              <a:srgbClr val="336791"/>
            </a:solidFill>
            <a:prstDash val="solid"/>
          </a:ln>
        </p:spPr>
      </p:sp>
      <p:sp>
        <p:nvSpPr>
          <p:cNvPr id="19" name="Text 17"/>
          <p:cNvSpPr/>
          <p:nvPr/>
        </p:nvSpPr>
        <p:spPr>
          <a:xfrm>
            <a:off x="4672584" y="2103120"/>
            <a:ext cx="1920240" cy="347472"/>
          </a:xfrm>
          <a:prstGeom prst="rect">
            <a:avLst/>
          </a:prstGeom>
          <a:noFill/>
          <a:ln/>
        </p:spPr>
        <p:txBody>
          <a:bodyPr wrap="square" lIns="63500" tIns="63500" rIns="63500" bIns="63500" rtlCol="0" anchor="ctr"/>
          <a:lstStyle/>
          <a:p>
            <a:pPr indent="0" marL="0">
              <a:buNone/>
            </a:pPr>
            <a:r>
              <a:rPr lang="en-US" sz="1200" b="1" dirty="0">
                <a:solidFill>
                  <a:srgbClr val="FFFFFF"/>
                </a:solidFill>
              </a:rPr>
              <a:t>🐘  PostgreSQL</a:t>
            </a:r>
            <a:endParaRPr lang="en-US" sz="1200" dirty="0"/>
          </a:p>
        </p:txBody>
      </p:sp>
      <p:sp>
        <p:nvSpPr>
          <p:cNvPr id="20" name="Shape 18"/>
          <p:cNvSpPr/>
          <p:nvPr/>
        </p:nvSpPr>
        <p:spPr>
          <a:xfrm>
            <a:off x="4946904" y="2542032"/>
            <a:ext cx="1371600" cy="274320"/>
          </a:xfrm>
          <a:prstGeom prst="roundRect">
            <a:avLst>
              <a:gd name="adj" fmla="val 16667"/>
            </a:avLst>
          </a:prstGeom>
          <a:solidFill>
            <a:srgbClr val="EBF5FA"/>
          </a:solidFill>
          <a:ln w="12700">
            <a:solidFill>
              <a:srgbClr val="D8EEF6"/>
            </a:solidFill>
            <a:prstDash val="solid"/>
          </a:ln>
        </p:spPr>
      </p:sp>
      <p:sp>
        <p:nvSpPr>
          <p:cNvPr id="21" name="Text 19"/>
          <p:cNvSpPr/>
          <p:nvPr/>
        </p:nvSpPr>
        <p:spPr>
          <a:xfrm>
            <a:off x="4946904" y="2542032"/>
            <a:ext cx="1371600" cy="274320"/>
          </a:xfrm>
          <a:prstGeom prst="rect">
            <a:avLst/>
          </a:prstGeom>
          <a:noFill/>
          <a:ln/>
        </p:spPr>
        <p:txBody>
          <a:bodyPr wrap="square" lIns="0" tIns="0" rIns="0" bIns="0" rtlCol="0" anchor="ctr"/>
          <a:lstStyle/>
          <a:p>
            <a:pPr algn="ctr" indent="0" marL="0">
              <a:buNone/>
            </a:pPr>
            <a:r>
              <a:rPr lang="en-US" sz="900" b="1" dirty="0">
                <a:solidFill>
                  <a:srgbClr val="1C7293"/>
                </a:solidFill>
              </a:rPr>
              <a:t>localhost:5434</a:t>
            </a:r>
            <a:endParaRPr lang="en-US" sz="900" dirty="0"/>
          </a:p>
        </p:txBody>
      </p:sp>
      <p:sp>
        <p:nvSpPr>
          <p:cNvPr id="22" name="Text 20"/>
          <p:cNvSpPr/>
          <p:nvPr/>
        </p:nvSpPr>
        <p:spPr>
          <a:xfrm>
            <a:off x="4764024" y="2907792"/>
            <a:ext cx="1737360" cy="640080"/>
          </a:xfrm>
          <a:prstGeom prst="rect">
            <a:avLst/>
          </a:prstGeom>
          <a:noFill/>
          <a:ln/>
        </p:spPr>
        <p:txBody>
          <a:bodyPr wrap="square" lIns="0" tIns="0" rIns="0" bIns="0" rtlCol="0" anchor="ctr"/>
          <a:lstStyle/>
          <a:p>
            <a:pPr algn="ctr" indent="0" marL="0">
              <a:buNone/>
            </a:pPr>
            <a:r>
              <a:rPr lang="en-US" sz="1000" dirty="0">
                <a:solidFill>
                  <a:srgbClr val="2C5F7A"/>
                </a:solidFill>
              </a:rPr>
              <a:t>Data Warehouse,</a:t>
            </a:r>
            <a:endParaRPr lang="en-US" sz="1000" dirty="0"/>
          </a:p>
          <a:p>
            <a:pPr algn="ctr" indent="0" marL="0">
              <a:buNone/>
            </a:pPr>
            <a:r>
              <a:rPr lang="en-US" sz="1000" dirty="0">
                <a:solidFill>
                  <a:srgbClr val="2C5F7A"/>
                </a:solidFill>
              </a:rPr>
              <a:t>port 5434</a:t>
            </a:r>
            <a:endParaRPr lang="en-US" sz="1000" dirty="0"/>
          </a:p>
        </p:txBody>
      </p:sp>
      <p:sp>
        <p:nvSpPr>
          <p:cNvPr id="23" name="Shape 21"/>
          <p:cNvSpPr/>
          <p:nvPr/>
        </p:nvSpPr>
        <p:spPr>
          <a:xfrm>
            <a:off x="6757416" y="2103120"/>
            <a:ext cx="1920240" cy="2103120"/>
          </a:xfrm>
          <a:prstGeom prst="rect">
            <a:avLst/>
          </a:prstGeom>
          <a:solidFill>
            <a:srgbClr val="FFFFFF"/>
          </a:solidFill>
          <a:ln w="12700">
            <a:solidFill>
              <a:srgbClr val="D8EEF6"/>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6757416" y="2103120"/>
            <a:ext cx="1920240" cy="347472"/>
          </a:xfrm>
          <a:prstGeom prst="rect">
            <a:avLst/>
          </a:prstGeom>
          <a:solidFill>
            <a:srgbClr val="028090"/>
          </a:solidFill>
          <a:ln w="12700">
            <a:solidFill>
              <a:srgbClr val="028090"/>
            </a:solidFill>
            <a:prstDash val="solid"/>
          </a:ln>
        </p:spPr>
      </p:sp>
      <p:sp>
        <p:nvSpPr>
          <p:cNvPr id="25" name="Text 23"/>
          <p:cNvSpPr/>
          <p:nvPr/>
        </p:nvSpPr>
        <p:spPr>
          <a:xfrm>
            <a:off x="6757416" y="2103120"/>
            <a:ext cx="1920240" cy="347472"/>
          </a:xfrm>
          <a:prstGeom prst="rect">
            <a:avLst/>
          </a:prstGeom>
          <a:noFill/>
          <a:ln/>
        </p:spPr>
        <p:txBody>
          <a:bodyPr wrap="square" lIns="63500" tIns="63500" rIns="63500" bIns="63500" rtlCol="0" anchor="ctr"/>
          <a:lstStyle/>
          <a:p>
            <a:pPr indent="0" marL="0">
              <a:buNone/>
            </a:pPr>
            <a:r>
              <a:rPr lang="en-US" sz="1200" b="1" dirty="0">
                <a:solidFill>
                  <a:srgbClr val="FFFFFF"/>
                </a:solidFill>
              </a:rPr>
              <a:t>📊  Streamlit</a:t>
            </a:r>
            <a:endParaRPr lang="en-US" sz="1200" dirty="0"/>
          </a:p>
        </p:txBody>
      </p:sp>
      <p:sp>
        <p:nvSpPr>
          <p:cNvPr id="26" name="Shape 24"/>
          <p:cNvSpPr/>
          <p:nvPr/>
        </p:nvSpPr>
        <p:spPr>
          <a:xfrm>
            <a:off x="7031736" y="2542032"/>
            <a:ext cx="1371600" cy="274320"/>
          </a:xfrm>
          <a:prstGeom prst="roundRect">
            <a:avLst>
              <a:gd name="adj" fmla="val 16667"/>
            </a:avLst>
          </a:prstGeom>
          <a:solidFill>
            <a:srgbClr val="EBF5FA"/>
          </a:solidFill>
          <a:ln w="12700">
            <a:solidFill>
              <a:srgbClr val="D8EEF6"/>
            </a:solidFill>
            <a:prstDash val="solid"/>
          </a:ln>
        </p:spPr>
      </p:sp>
      <p:sp>
        <p:nvSpPr>
          <p:cNvPr id="27" name="Text 25"/>
          <p:cNvSpPr/>
          <p:nvPr/>
        </p:nvSpPr>
        <p:spPr>
          <a:xfrm>
            <a:off x="7031736" y="2542032"/>
            <a:ext cx="1371600" cy="274320"/>
          </a:xfrm>
          <a:prstGeom prst="rect">
            <a:avLst/>
          </a:prstGeom>
          <a:noFill/>
          <a:ln/>
        </p:spPr>
        <p:txBody>
          <a:bodyPr wrap="square" lIns="0" tIns="0" rIns="0" bIns="0" rtlCol="0" anchor="ctr"/>
          <a:lstStyle/>
          <a:p>
            <a:pPr algn="ctr" indent="0" marL="0">
              <a:buNone/>
            </a:pPr>
            <a:r>
              <a:rPr lang="en-US" sz="900" b="1" dirty="0">
                <a:solidFill>
                  <a:srgbClr val="1C7293"/>
                </a:solidFill>
              </a:rPr>
              <a:t>localhost:8501</a:t>
            </a:r>
            <a:endParaRPr lang="en-US" sz="900" dirty="0"/>
          </a:p>
        </p:txBody>
      </p:sp>
      <p:sp>
        <p:nvSpPr>
          <p:cNvPr id="28" name="Text 26"/>
          <p:cNvSpPr/>
          <p:nvPr/>
        </p:nvSpPr>
        <p:spPr>
          <a:xfrm>
            <a:off x="6848856" y="2907792"/>
            <a:ext cx="1737360" cy="640080"/>
          </a:xfrm>
          <a:prstGeom prst="rect">
            <a:avLst/>
          </a:prstGeom>
          <a:noFill/>
          <a:ln/>
        </p:spPr>
        <p:txBody>
          <a:bodyPr wrap="square" lIns="0" tIns="0" rIns="0" bIns="0" rtlCol="0" anchor="ctr"/>
          <a:lstStyle/>
          <a:p>
            <a:pPr algn="ctr" indent="0" marL="0">
              <a:buNone/>
            </a:pPr>
            <a:r>
              <a:rPr lang="en-US" sz="1000" dirty="0">
                <a:solidFill>
                  <a:srgbClr val="2C5F7A"/>
                </a:solidFill>
              </a:rPr>
              <a:t>Dashboard,</a:t>
            </a:r>
            <a:endParaRPr lang="en-US" sz="1000" dirty="0"/>
          </a:p>
          <a:p>
            <a:pPr algn="ctr" indent="0" marL="0">
              <a:buNone/>
            </a:pPr>
            <a:r>
              <a:rPr lang="en-US" sz="1000" dirty="0">
                <a:solidFill>
                  <a:srgbClr val="2C5F7A"/>
                </a:solidFill>
              </a:rPr>
              <a:t>interface web</a:t>
            </a:r>
            <a:endParaRPr lang="en-US" sz="1000" dirty="0"/>
          </a:p>
        </p:txBody>
      </p:sp>
      <p:sp>
        <p:nvSpPr>
          <p:cNvPr id="29" name="Shape 27"/>
          <p:cNvSpPr/>
          <p:nvPr/>
        </p:nvSpPr>
        <p:spPr>
          <a:xfrm>
            <a:off x="320040" y="4617720"/>
            <a:ext cx="8503920" cy="347472"/>
          </a:xfrm>
          <a:prstGeom prst="rect">
            <a:avLst/>
          </a:prstGeom>
          <a:solidFill>
            <a:srgbClr val="021B2E"/>
          </a:solidFill>
          <a:ln w="12700">
            <a:solidFill>
              <a:srgbClr val="021B2E"/>
            </a:solidFill>
            <a:prstDash val="solid"/>
          </a:ln>
        </p:spPr>
      </p:sp>
      <p:sp>
        <p:nvSpPr>
          <p:cNvPr id="30" name="Text 28"/>
          <p:cNvSpPr/>
          <p:nvPr/>
        </p:nvSpPr>
        <p:spPr>
          <a:xfrm>
            <a:off x="411480" y="4617720"/>
            <a:ext cx="8321040" cy="347472"/>
          </a:xfrm>
          <a:prstGeom prst="rect">
            <a:avLst/>
          </a:prstGeom>
          <a:noFill/>
          <a:ln/>
        </p:spPr>
        <p:txBody>
          <a:bodyPr wrap="square" lIns="0" tIns="0" rIns="0" bIns="0" rtlCol="0" anchor="ctr"/>
          <a:lstStyle/>
          <a:p>
            <a:pPr indent="0" marL="0">
              <a:buNone/>
            </a:pPr>
            <a:r>
              <a:rPr lang="en-US" sz="1100" dirty="0">
                <a:solidFill>
                  <a:srgbClr val="02C39A"/>
                </a:solidFill>
                <a:latin typeface="Consolas" pitchFamily="34" charset="0"/>
                <a:ea typeface="Consolas" pitchFamily="34" charset="-122"/>
                <a:cs typeface="Consolas" pitchFamily="34" charset="-120"/>
              </a:rPr>
              <a:t>$ docker compose up -d    →    tous les services démarrent en une commande</a:t>
            </a:r>
            <a:endParaRPr lang="en-US" sz="1100" dirty="0"/>
          </a:p>
        </p:txBody>
      </p:sp>
      <p:sp>
        <p:nvSpPr>
          <p:cNvPr id="31" name="Text 29"/>
          <p:cNvSpPr/>
          <p:nvPr/>
        </p:nvSpPr>
        <p:spPr>
          <a:xfrm>
            <a:off x="0" y="4892040"/>
            <a:ext cx="9144000" cy="256032"/>
          </a:xfrm>
          <a:prstGeom prst="rect">
            <a:avLst/>
          </a:prstGeom>
          <a:noFill/>
          <a:ln/>
        </p:spPr>
        <p:txBody>
          <a:bodyPr wrap="square" lIns="0" tIns="0" rIns="0" bIns="0" rtlCol="0" anchor="ctr"/>
          <a:lstStyle/>
          <a:p>
            <a:pPr algn="ctr" indent="0" marL="0">
              <a:buNone/>
            </a:pPr>
            <a:r>
              <a:rPr lang="en-US" sz="900" dirty="0">
                <a:solidFill>
                  <a:srgbClr val="6B9DB5"/>
                </a:solidFill>
              </a:rPr>
              <a:t>Big Data B2 — Sup de Vinci</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1B2E"/>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C39A"/>
          </a:solidFill>
          <a:ln w="12700">
            <a:solidFill>
              <a:srgbClr val="02C39A"/>
            </a:solidFill>
            <a:prstDash val="solid"/>
          </a:ln>
        </p:spPr>
      </p:sp>
      <p:sp>
        <p:nvSpPr>
          <p:cNvPr id="3" name="Text 1"/>
          <p:cNvSpPr/>
          <p:nvPr/>
        </p:nvSpPr>
        <p:spPr>
          <a:xfrm>
            <a:off x="457200" y="365760"/>
            <a:ext cx="8229600" cy="548640"/>
          </a:xfrm>
          <a:prstGeom prst="rect">
            <a:avLst/>
          </a:prstGeom>
          <a:noFill/>
          <a:ln/>
        </p:spPr>
        <p:txBody>
          <a:bodyPr wrap="square" rtlCol="0" anchor="ctr"/>
          <a:lstStyle/>
          <a:p>
            <a:pPr indent="0" marL="0">
              <a:buNone/>
            </a:pPr>
            <a:r>
              <a:rPr lang="en-US" sz="3000" b="1" dirty="0">
                <a:solidFill>
                  <a:srgbClr val="FFFFFF"/>
                </a:solidFill>
              </a:rPr>
              <a:t>Ce qu'on a construit</a:t>
            </a:r>
            <a:endParaRPr lang="en-US" sz="3000" dirty="0"/>
          </a:p>
        </p:txBody>
      </p:sp>
      <p:sp>
        <p:nvSpPr>
          <p:cNvPr id="4" name="Text 2"/>
          <p:cNvSpPr/>
          <p:nvPr/>
        </p:nvSpPr>
        <p:spPr>
          <a:xfrm>
            <a:off x="457200" y="914400"/>
            <a:ext cx="8229600" cy="365760"/>
          </a:xfrm>
          <a:prstGeom prst="rect">
            <a:avLst/>
          </a:prstGeom>
          <a:noFill/>
          <a:ln/>
        </p:spPr>
        <p:txBody>
          <a:bodyPr wrap="square" rtlCol="0" anchor="ctr"/>
          <a:lstStyle/>
          <a:p>
            <a:pPr indent="0" marL="0">
              <a:buNone/>
            </a:pPr>
            <a:r>
              <a:rPr lang="en-US" sz="1400" i="1" dirty="0">
                <a:solidFill>
                  <a:srgbClr val="02C39A"/>
                </a:solidFill>
              </a:rPr>
              <a:t>Un pipeline Big Data complet, de la collecte à la visualisation</a:t>
            </a:r>
            <a:endParaRPr lang="en-US" sz="1400" dirty="0"/>
          </a:p>
        </p:txBody>
      </p:sp>
      <p:sp>
        <p:nvSpPr>
          <p:cNvPr id="5" name="Shape 3"/>
          <p:cNvSpPr/>
          <p:nvPr/>
        </p:nvSpPr>
        <p:spPr>
          <a:xfrm>
            <a:off x="365760" y="1463040"/>
            <a:ext cx="2743200" cy="777240"/>
          </a:xfrm>
          <a:prstGeom prst="rect">
            <a:avLst/>
          </a:prstGeom>
          <a:solidFill>
            <a:srgbClr val="0A2A3D"/>
          </a:solidFill>
          <a:ln w="12700">
            <a:solidFill>
              <a:srgbClr val="065A82"/>
            </a:solidFill>
            <a:prstDash val="solid"/>
          </a:ln>
        </p:spPr>
      </p:sp>
      <p:sp>
        <p:nvSpPr>
          <p:cNvPr id="6" name="Text 4"/>
          <p:cNvSpPr/>
          <p:nvPr/>
        </p:nvSpPr>
        <p:spPr>
          <a:xfrm>
            <a:off x="365760" y="1463040"/>
            <a:ext cx="685800" cy="77724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1024128" y="1508760"/>
            <a:ext cx="2011680" cy="274320"/>
          </a:xfrm>
          <a:prstGeom prst="rect">
            <a:avLst/>
          </a:prstGeom>
          <a:noFill/>
          <a:ln/>
        </p:spPr>
        <p:txBody>
          <a:bodyPr wrap="square" lIns="0" tIns="0" rIns="0" bIns="0" rtlCol="0" anchor="ctr"/>
          <a:lstStyle/>
          <a:p>
            <a:pPr indent="0" marL="0">
              <a:buNone/>
            </a:pPr>
            <a:r>
              <a:rPr lang="en-US" sz="1200" b="1" dirty="0">
                <a:solidFill>
                  <a:srgbClr val="FFFFFF"/>
                </a:solidFill>
              </a:rPr>
              <a:t>Collecte</a:t>
            </a:r>
            <a:endParaRPr lang="en-US" sz="1200" dirty="0"/>
          </a:p>
        </p:txBody>
      </p:sp>
      <p:sp>
        <p:nvSpPr>
          <p:cNvPr id="8" name="Text 6"/>
          <p:cNvSpPr/>
          <p:nvPr/>
        </p:nvSpPr>
        <p:spPr>
          <a:xfrm>
            <a:off x="1024128" y="1755648"/>
            <a:ext cx="2011680" cy="219456"/>
          </a:xfrm>
          <a:prstGeom prst="rect">
            <a:avLst/>
          </a:prstGeom>
          <a:noFill/>
          <a:ln/>
        </p:spPr>
        <p:txBody>
          <a:bodyPr wrap="square" lIns="0" tIns="0" rIns="0" bIns="0" rtlCol="0" anchor="ctr"/>
          <a:lstStyle/>
          <a:p>
            <a:pPr indent="0" marL="0">
              <a:buNone/>
            </a:pPr>
            <a:r>
              <a:rPr lang="en-US" sz="1000" dirty="0">
                <a:solidFill>
                  <a:srgbClr val="02C39A"/>
                </a:solidFill>
              </a:rPr>
              <a:t>Python + APIs</a:t>
            </a:r>
            <a:endParaRPr lang="en-US" sz="1000" dirty="0"/>
          </a:p>
        </p:txBody>
      </p:sp>
      <p:sp>
        <p:nvSpPr>
          <p:cNvPr id="9" name="Text 7"/>
          <p:cNvSpPr/>
          <p:nvPr/>
        </p:nvSpPr>
        <p:spPr>
          <a:xfrm>
            <a:off x="1024128" y="1965960"/>
            <a:ext cx="2011680" cy="219456"/>
          </a:xfrm>
          <a:prstGeom prst="rect">
            <a:avLst/>
          </a:prstGeom>
          <a:noFill/>
          <a:ln/>
        </p:spPr>
        <p:txBody>
          <a:bodyPr wrap="square" lIns="0" tIns="0" rIns="0" bIns="0" rtlCol="0" anchor="ctr"/>
          <a:lstStyle/>
          <a:p>
            <a:pPr indent="0" marL="0">
              <a:buNone/>
            </a:pPr>
            <a:r>
              <a:rPr lang="en-US" sz="900" i="1" dirty="0">
                <a:solidFill>
                  <a:srgbClr val="6B9DB5"/>
                </a:solidFill>
              </a:rPr>
              <a:t>Citedia, STAR, wttr.in</a:t>
            </a:r>
            <a:endParaRPr lang="en-US" sz="900" dirty="0"/>
          </a:p>
        </p:txBody>
      </p:sp>
      <p:sp>
        <p:nvSpPr>
          <p:cNvPr id="10" name="Shape 8"/>
          <p:cNvSpPr/>
          <p:nvPr/>
        </p:nvSpPr>
        <p:spPr>
          <a:xfrm>
            <a:off x="3246120" y="1463040"/>
            <a:ext cx="2743200" cy="777240"/>
          </a:xfrm>
          <a:prstGeom prst="rect">
            <a:avLst/>
          </a:prstGeom>
          <a:solidFill>
            <a:srgbClr val="0A2A3D"/>
          </a:solidFill>
          <a:ln w="12700">
            <a:solidFill>
              <a:srgbClr val="065A82"/>
            </a:solidFill>
            <a:prstDash val="solid"/>
          </a:ln>
        </p:spPr>
      </p:sp>
      <p:sp>
        <p:nvSpPr>
          <p:cNvPr id="11" name="Text 9"/>
          <p:cNvSpPr/>
          <p:nvPr/>
        </p:nvSpPr>
        <p:spPr>
          <a:xfrm>
            <a:off x="3246120" y="1463040"/>
            <a:ext cx="685800" cy="77724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3904488" y="1508760"/>
            <a:ext cx="2011680" cy="274320"/>
          </a:xfrm>
          <a:prstGeom prst="rect">
            <a:avLst/>
          </a:prstGeom>
          <a:noFill/>
          <a:ln/>
        </p:spPr>
        <p:txBody>
          <a:bodyPr wrap="square" lIns="0" tIns="0" rIns="0" bIns="0" rtlCol="0" anchor="ctr"/>
          <a:lstStyle/>
          <a:p>
            <a:pPr indent="0" marL="0">
              <a:buNone/>
            </a:pPr>
            <a:r>
              <a:rPr lang="en-US" sz="1200" b="1" dirty="0">
                <a:solidFill>
                  <a:srgbClr val="FFFFFF"/>
                </a:solidFill>
              </a:rPr>
              <a:t>Orchestration</a:t>
            </a:r>
            <a:endParaRPr lang="en-US" sz="1200" dirty="0"/>
          </a:p>
        </p:txBody>
      </p:sp>
      <p:sp>
        <p:nvSpPr>
          <p:cNvPr id="13" name="Text 11"/>
          <p:cNvSpPr/>
          <p:nvPr/>
        </p:nvSpPr>
        <p:spPr>
          <a:xfrm>
            <a:off x="3904488" y="1755648"/>
            <a:ext cx="2011680" cy="219456"/>
          </a:xfrm>
          <a:prstGeom prst="rect">
            <a:avLst/>
          </a:prstGeom>
          <a:noFill/>
          <a:ln/>
        </p:spPr>
        <p:txBody>
          <a:bodyPr wrap="square" lIns="0" tIns="0" rIns="0" bIns="0" rtlCol="0" anchor="ctr"/>
          <a:lstStyle/>
          <a:p>
            <a:pPr indent="0" marL="0">
              <a:buNone/>
            </a:pPr>
            <a:r>
              <a:rPr lang="en-US" sz="1000" dirty="0">
                <a:solidFill>
                  <a:srgbClr val="02C39A"/>
                </a:solidFill>
              </a:rPr>
              <a:t>Apache Airflow</a:t>
            </a:r>
            <a:endParaRPr lang="en-US" sz="1000" dirty="0"/>
          </a:p>
        </p:txBody>
      </p:sp>
      <p:sp>
        <p:nvSpPr>
          <p:cNvPr id="14" name="Text 12"/>
          <p:cNvSpPr/>
          <p:nvPr/>
        </p:nvSpPr>
        <p:spPr>
          <a:xfrm>
            <a:off x="3904488" y="1965960"/>
            <a:ext cx="2011680" cy="219456"/>
          </a:xfrm>
          <a:prstGeom prst="rect">
            <a:avLst/>
          </a:prstGeom>
          <a:noFill/>
          <a:ln/>
        </p:spPr>
        <p:txBody>
          <a:bodyPr wrap="square" lIns="0" tIns="0" rIns="0" bIns="0" rtlCol="0" anchor="ctr"/>
          <a:lstStyle/>
          <a:p>
            <a:pPr indent="0" marL="0">
              <a:buNone/>
            </a:pPr>
            <a:r>
              <a:rPr lang="en-US" sz="900" i="1" dirty="0">
                <a:solidFill>
                  <a:srgbClr val="6B9DB5"/>
                </a:solidFill>
              </a:rPr>
              <a:t>Toutes les 15 minutes</a:t>
            </a:r>
            <a:endParaRPr lang="en-US" sz="900" dirty="0"/>
          </a:p>
        </p:txBody>
      </p:sp>
      <p:sp>
        <p:nvSpPr>
          <p:cNvPr id="15" name="Shape 13"/>
          <p:cNvSpPr/>
          <p:nvPr/>
        </p:nvSpPr>
        <p:spPr>
          <a:xfrm>
            <a:off x="6126480" y="1463040"/>
            <a:ext cx="2743200" cy="777240"/>
          </a:xfrm>
          <a:prstGeom prst="rect">
            <a:avLst/>
          </a:prstGeom>
          <a:solidFill>
            <a:srgbClr val="0A2A3D"/>
          </a:solidFill>
          <a:ln w="12700">
            <a:solidFill>
              <a:srgbClr val="065A82"/>
            </a:solidFill>
            <a:prstDash val="solid"/>
          </a:ln>
        </p:spPr>
      </p:sp>
      <p:sp>
        <p:nvSpPr>
          <p:cNvPr id="16" name="Text 14"/>
          <p:cNvSpPr/>
          <p:nvPr/>
        </p:nvSpPr>
        <p:spPr>
          <a:xfrm>
            <a:off x="6126480" y="1463040"/>
            <a:ext cx="685800" cy="77724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6784848" y="1508760"/>
            <a:ext cx="2011680" cy="274320"/>
          </a:xfrm>
          <a:prstGeom prst="rect">
            <a:avLst/>
          </a:prstGeom>
          <a:noFill/>
          <a:ln/>
        </p:spPr>
        <p:txBody>
          <a:bodyPr wrap="square" lIns="0" tIns="0" rIns="0" bIns="0" rtlCol="0" anchor="ctr"/>
          <a:lstStyle/>
          <a:p>
            <a:pPr indent="0" marL="0">
              <a:buNone/>
            </a:pPr>
            <a:r>
              <a:rPr lang="en-US" sz="1200" b="1" dirty="0">
                <a:solidFill>
                  <a:srgbClr val="FFFFFF"/>
                </a:solidFill>
              </a:rPr>
              <a:t>Data Lake</a:t>
            </a:r>
            <a:endParaRPr lang="en-US" sz="1200" dirty="0"/>
          </a:p>
        </p:txBody>
      </p:sp>
      <p:sp>
        <p:nvSpPr>
          <p:cNvPr id="18" name="Text 16"/>
          <p:cNvSpPr/>
          <p:nvPr/>
        </p:nvSpPr>
        <p:spPr>
          <a:xfrm>
            <a:off x="6784848" y="1755648"/>
            <a:ext cx="2011680" cy="219456"/>
          </a:xfrm>
          <a:prstGeom prst="rect">
            <a:avLst/>
          </a:prstGeom>
          <a:noFill/>
          <a:ln/>
        </p:spPr>
        <p:txBody>
          <a:bodyPr wrap="square" lIns="0" tIns="0" rIns="0" bIns="0" rtlCol="0" anchor="ctr"/>
          <a:lstStyle/>
          <a:p>
            <a:pPr indent="0" marL="0">
              <a:buNone/>
            </a:pPr>
            <a:r>
              <a:rPr lang="en-US" sz="1000" dirty="0">
                <a:solidFill>
                  <a:srgbClr val="02C39A"/>
                </a:solidFill>
              </a:rPr>
              <a:t>MinIO (S3)</a:t>
            </a:r>
            <a:endParaRPr lang="en-US" sz="1000" dirty="0"/>
          </a:p>
        </p:txBody>
      </p:sp>
      <p:sp>
        <p:nvSpPr>
          <p:cNvPr id="19" name="Text 17"/>
          <p:cNvSpPr/>
          <p:nvPr/>
        </p:nvSpPr>
        <p:spPr>
          <a:xfrm>
            <a:off x="6784848" y="1965960"/>
            <a:ext cx="2011680" cy="219456"/>
          </a:xfrm>
          <a:prstGeom prst="rect">
            <a:avLst/>
          </a:prstGeom>
          <a:noFill/>
          <a:ln/>
        </p:spPr>
        <p:txBody>
          <a:bodyPr wrap="square" lIns="0" tIns="0" rIns="0" bIns="0" rtlCol="0" anchor="ctr"/>
          <a:lstStyle/>
          <a:p>
            <a:pPr indent="0" marL="0">
              <a:buNone/>
            </a:pPr>
            <a:r>
              <a:rPr lang="en-US" sz="900" i="1" dirty="0">
                <a:solidFill>
                  <a:srgbClr val="6B9DB5"/>
                </a:solidFill>
              </a:rPr>
              <a:t>Snapshots JSON bruts</a:t>
            </a:r>
            <a:endParaRPr lang="en-US" sz="900" dirty="0"/>
          </a:p>
        </p:txBody>
      </p:sp>
      <p:sp>
        <p:nvSpPr>
          <p:cNvPr id="20" name="Shape 18"/>
          <p:cNvSpPr/>
          <p:nvPr/>
        </p:nvSpPr>
        <p:spPr>
          <a:xfrm>
            <a:off x="365760" y="2377440"/>
            <a:ext cx="2743200" cy="777240"/>
          </a:xfrm>
          <a:prstGeom prst="rect">
            <a:avLst/>
          </a:prstGeom>
          <a:solidFill>
            <a:srgbClr val="0A2A3D"/>
          </a:solidFill>
          <a:ln w="12700">
            <a:solidFill>
              <a:srgbClr val="065A82"/>
            </a:solidFill>
            <a:prstDash val="solid"/>
          </a:ln>
        </p:spPr>
      </p:sp>
      <p:sp>
        <p:nvSpPr>
          <p:cNvPr id="21" name="Text 19"/>
          <p:cNvSpPr/>
          <p:nvPr/>
        </p:nvSpPr>
        <p:spPr>
          <a:xfrm>
            <a:off x="365760" y="2377440"/>
            <a:ext cx="685800" cy="77724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2" name="Text 20"/>
          <p:cNvSpPr/>
          <p:nvPr/>
        </p:nvSpPr>
        <p:spPr>
          <a:xfrm>
            <a:off x="1024128" y="2423160"/>
            <a:ext cx="2011680" cy="274320"/>
          </a:xfrm>
          <a:prstGeom prst="rect">
            <a:avLst/>
          </a:prstGeom>
          <a:noFill/>
          <a:ln/>
        </p:spPr>
        <p:txBody>
          <a:bodyPr wrap="square" lIns="0" tIns="0" rIns="0" bIns="0" rtlCol="0" anchor="ctr"/>
          <a:lstStyle/>
          <a:p>
            <a:pPr indent="0" marL="0">
              <a:buNone/>
            </a:pPr>
            <a:r>
              <a:rPr lang="en-US" sz="1200" b="1" dirty="0">
                <a:solidFill>
                  <a:srgbClr val="FFFFFF"/>
                </a:solidFill>
              </a:rPr>
              <a:t>Traitement</a:t>
            </a:r>
            <a:endParaRPr lang="en-US" sz="1200" dirty="0"/>
          </a:p>
        </p:txBody>
      </p:sp>
      <p:sp>
        <p:nvSpPr>
          <p:cNvPr id="23" name="Text 21"/>
          <p:cNvSpPr/>
          <p:nvPr/>
        </p:nvSpPr>
        <p:spPr>
          <a:xfrm>
            <a:off x="1024128" y="2670048"/>
            <a:ext cx="2011680" cy="219456"/>
          </a:xfrm>
          <a:prstGeom prst="rect">
            <a:avLst/>
          </a:prstGeom>
          <a:noFill/>
          <a:ln/>
        </p:spPr>
        <p:txBody>
          <a:bodyPr wrap="square" lIns="0" tIns="0" rIns="0" bIns="0" rtlCol="0" anchor="ctr"/>
          <a:lstStyle/>
          <a:p>
            <a:pPr indent="0" marL="0">
              <a:buNone/>
            </a:pPr>
            <a:r>
              <a:rPr lang="en-US" sz="1000" dirty="0">
                <a:solidFill>
                  <a:srgbClr val="02C39A"/>
                </a:solidFill>
              </a:rPr>
              <a:t>Apache Spark</a:t>
            </a:r>
            <a:endParaRPr lang="en-US" sz="1000" dirty="0"/>
          </a:p>
        </p:txBody>
      </p:sp>
      <p:sp>
        <p:nvSpPr>
          <p:cNvPr id="24" name="Text 22"/>
          <p:cNvSpPr/>
          <p:nvPr/>
        </p:nvSpPr>
        <p:spPr>
          <a:xfrm>
            <a:off x="1024128" y="2880360"/>
            <a:ext cx="2011680" cy="219456"/>
          </a:xfrm>
          <a:prstGeom prst="rect">
            <a:avLst/>
          </a:prstGeom>
          <a:noFill/>
          <a:ln/>
        </p:spPr>
        <p:txBody>
          <a:bodyPr wrap="square" lIns="0" tIns="0" rIns="0" bIns="0" rtlCol="0" anchor="ctr"/>
          <a:lstStyle/>
          <a:p>
            <a:pPr indent="0" marL="0">
              <a:buNone/>
            </a:pPr>
            <a:r>
              <a:rPr lang="en-US" sz="900" i="1" dirty="0">
                <a:solidFill>
                  <a:srgbClr val="6B9DB5"/>
                </a:solidFill>
              </a:rPr>
              <a:t>Agrégations Parquet</a:t>
            </a:r>
            <a:endParaRPr lang="en-US" sz="900" dirty="0"/>
          </a:p>
        </p:txBody>
      </p:sp>
      <p:sp>
        <p:nvSpPr>
          <p:cNvPr id="25" name="Shape 23"/>
          <p:cNvSpPr/>
          <p:nvPr/>
        </p:nvSpPr>
        <p:spPr>
          <a:xfrm>
            <a:off x="3246120" y="2377440"/>
            <a:ext cx="2743200" cy="777240"/>
          </a:xfrm>
          <a:prstGeom prst="rect">
            <a:avLst/>
          </a:prstGeom>
          <a:solidFill>
            <a:srgbClr val="0A2A3D"/>
          </a:solidFill>
          <a:ln w="12700">
            <a:solidFill>
              <a:srgbClr val="065A82"/>
            </a:solidFill>
            <a:prstDash val="solid"/>
          </a:ln>
        </p:spPr>
      </p:sp>
      <p:sp>
        <p:nvSpPr>
          <p:cNvPr id="26" name="Text 24"/>
          <p:cNvSpPr/>
          <p:nvPr/>
        </p:nvSpPr>
        <p:spPr>
          <a:xfrm>
            <a:off x="3246120" y="2377440"/>
            <a:ext cx="685800" cy="77724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7" name="Text 25"/>
          <p:cNvSpPr/>
          <p:nvPr/>
        </p:nvSpPr>
        <p:spPr>
          <a:xfrm>
            <a:off x="3904488" y="2423160"/>
            <a:ext cx="2011680" cy="274320"/>
          </a:xfrm>
          <a:prstGeom prst="rect">
            <a:avLst/>
          </a:prstGeom>
          <a:noFill/>
          <a:ln/>
        </p:spPr>
        <p:txBody>
          <a:bodyPr wrap="square" lIns="0" tIns="0" rIns="0" bIns="0" rtlCol="0" anchor="ctr"/>
          <a:lstStyle/>
          <a:p>
            <a:pPr indent="0" marL="0">
              <a:buNone/>
            </a:pPr>
            <a:r>
              <a:rPr lang="en-US" sz="1200" b="1" dirty="0">
                <a:solidFill>
                  <a:srgbClr val="FFFFFF"/>
                </a:solidFill>
              </a:rPr>
              <a:t>Warehouse</a:t>
            </a:r>
            <a:endParaRPr lang="en-US" sz="1200" dirty="0"/>
          </a:p>
        </p:txBody>
      </p:sp>
      <p:sp>
        <p:nvSpPr>
          <p:cNvPr id="28" name="Text 26"/>
          <p:cNvSpPr/>
          <p:nvPr/>
        </p:nvSpPr>
        <p:spPr>
          <a:xfrm>
            <a:off x="3904488" y="2670048"/>
            <a:ext cx="2011680" cy="219456"/>
          </a:xfrm>
          <a:prstGeom prst="rect">
            <a:avLst/>
          </a:prstGeom>
          <a:noFill/>
          <a:ln/>
        </p:spPr>
        <p:txBody>
          <a:bodyPr wrap="square" lIns="0" tIns="0" rIns="0" bIns="0" rtlCol="0" anchor="ctr"/>
          <a:lstStyle/>
          <a:p>
            <a:pPr indent="0" marL="0">
              <a:buNone/>
            </a:pPr>
            <a:r>
              <a:rPr lang="en-US" sz="1000" dirty="0">
                <a:solidFill>
                  <a:srgbClr val="02C39A"/>
                </a:solidFill>
              </a:rPr>
              <a:t>PostgreSQL</a:t>
            </a:r>
            <a:endParaRPr lang="en-US" sz="1000" dirty="0"/>
          </a:p>
        </p:txBody>
      </p:sp>
      <p:sp>
        <p:nvSpPr>
          <p:cNvPr id="29" name="Text 27"/>
          <p:cNvSpPr/>
          <p:nvPr/>
        </p:nvSpPr>
        <p:spPr>
          <a:xfrm>
            <a:off x="3904488" y="2880360"/>
            <a:ext cx="2011680" cy="219456"/>
          </a:xfrm>
          <a:prstGeom prst="rect">
            <a:avLst/>
          </a:prstGeom>
          <a:noFill/>
          <a:ln/>
        </p:spPr>
        <p:txBody>
          <a:bodyPr wrap="square" lIns="0" tIns="0" rIns="0" bIns="0" rtlCol="0" anchor="ctr"/>
          <a:lstStyle/>
          <a:p>
            <a:pPr indent="0" marL="0">
              <a:buNone/>
            </a:pPr>
            <a:r>
              <a:rPr lang="en-US" sz="900" i="1" dirty="0">
                <a:solidFill>
                  <a:srgbClr val="6B9DB5"/>
                </a:solidFill>
              </a:rPr>
              <a:t>Données structurées</a:t>
            </a:r>
            <a:endParaRPr lang="en-US" sz="900" dirty="0"/>
          </a:p>
        </p:txBody>
      </p:sp>
      <p:sp>
        <p:nvSpPr>
          <p:cNvPr id="30" name="Shape 28"/>
          <p:cNvSpPr/>
          <p:nvPr/>
        </p:nvSpPr>
        <p:spPr>
          <a:xfrm>
            <a:off x="6126480" y="2377440"/>
            <a:ext cx="2743200" cy="777240"/>
          </a:xfrm>
          <a:prstGeom prst="rect">
            <a:avLst/>
          </a:prstGeom>
          <a:solidFill>
            <a:srgbClr val="0A2A3D"/>
          </a:solidFill>
          <a:ln w="12700">
            <a:solidFill>
              <a:srgbClr val="065A82"/>
            </a:solidFill>
            <a:prstDash val="solid"/>
          </a:ln>
        </p:spPr>
      </p:sp>
      <p:sp>
        <p:nvSpPr>
          <p:cNvPr id="31" name="Text 29"/>
          <p:cNvSpPr/>
          <p:nvPr/>
        </p:nvSpPr>
        <p:spPr>
          <a:xfrm>
            <a:off x="6126480" y="2377440"/>
            <a:ext cx="685800" cy="77724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2" name="Text 30"/>
          <p:cNvSpPr/>
          <p:nvPr/>
        </p:nvSpPr>
        <p:spPr>
          <a:xfrm>
            <a:off x="6784848" y="2423160"/>
            <a:ext cx="2011680" cy="274320"/>
          </a:xfrm>
          <a:prstGeom prst="rect">
            <a:avLst/>
          </a:prstGeom>
          <a:noFill/>
          <a:ln/>
        </p:spPr>
        <p:txBody>
          <a:bodyPr wrap="square" lIns="0" tIns="0" rIns="0" bIns="0" rtlCol="0" anchor="ctr"/>
          <a:lstStyle/>
          <a:p>
            <a:pPr indent="0" marL="0">
              <a:buNone/>
            </a:pPr>
            <a:r>
              <a:rPr lang="en-US" sz="1200" b="1" dirty="0">
                <a:solidFill>
                  <a:srgbClr val="FFFFFF"/>
                </a:solidFill>
              </a:rPr>
              <a:t>Visualisation</a:t>
            </a:r>
            <a:endParaRPr lang="en-US" sz="1200" dirty="0"/>
          </a:p>
        </p:txBody>
      </p:sp>
      <p:sp>
        <p:nvSpPr>
          <p:cNvPr id="33" name="Text 31"/>
          <p:cNvSpPr/>
          <p:nvPr/>
        </p:nvSpPr>
        <p:spPr>
          <a:xfrm>
            <a:off x="6784848" y="2670048"/>
            <a:ext cx="2011680" cy="219456"/>
          </a:xfrm>
          <a:prstGeom prst="rect">
            <a:avLst/>
          </a:prstGeom>
          <a:noFill/>
          <a:ln/>
        </p:spPr>
        <p:txBody>
          <a:bodyPr wrap="square" lIns="0" tIns="0" rIns="0" bIns="0" rtlCol="0" anchor="ctr"/>
          <a:lstStyle/>
          <a:p>
            <a:pPr indent="0" marL="0">
              <a:buNone/>
            </a:pPr>
            <a:r>
              <a:rPr lang="en-US" sz="1000" dirty="0">
                <a:solidFill>
                  <a:srgbClr val="02C39A"/>
                </a:solidFill>
              </a:rPr>
              <a:t>Streamlit + Folium</a:t>
            </a:r>
            <a:endParaRPr lang="en-US" sz="1000" dirty="0"/>
          </a:p>
        </p:txBody>
      </p:sp>
      <p:sp>
        <p:nvSpPr>
          <p:cNvPr id="34" name="Text 32"/>
          <p:cNvSpPr/>
          <p:nvPr/>
        </p:nvSpPr>
        <p:spPr>
          <a:xfrm>
            <a:off x="6784848" y="2880360"/>
            <a:ext cx="2011680" cy="219456"/>
          </a:xfrm>
          <a:prstGeom prst="rect">
            <a:avLst/>
          </a:prstGeom>
          <a:noFill/>
          <a:ln/>
        </p:spPr>
        <p:txBody>
          <a:bodyPr wrap="square" lIns="0" tIns="0" rIns="0" bIns="0" rtlCol="0" anchor="ctr"/>
          <a:lstStyle/>
          <a:p>
            <a:pPr indent="0" marL="0">
              <a:buNone/>
            </a:pPr>
            <a:r>
              <a:rPr lang="en-US" sz="900" i="1" dirty="0">
                <a:solidFill>
                  <a:srgbClr val="6B9DB5"/>
                </a:solidFill>
              </a:rPr>
              <a:t>Carte + 6 onglets</a:t>
            </a:r>
            <a:endParaRPr lang="en-US" sz="900" dirty="0"/>
          </a:p>
        </p:txBody>
      </p:sp>
      <p:sp>
        <p:nvSpPr>
          <p:cNvPr id="35" name="Shape 33"/>
          <p:cNvSpPr/>
          <p:nvPr/>
        </p:nvSpPr>
        <p:spPr>
          <a:xfrm>
            <a:off x="365760" y="3383280"/>
            <a:ext cx="8412480" cy="36576"/>
          </a:xfrm>
          <a:prstGeom prst="rect">
            <a:avLst/>
          </a:prstGeom>
          <a:solidFill>
            <a:srgbClr val="1C7293"/>
          </a:solidFill>
          <a:ln w="12700">
            <a:solidFill>
              <a:srgbClr val="1C7293"/>
            </a:solidFill>
            <a:prstDash val="solid"/>
          </a:ln>
        </p:spPr>
      </p:sp>
      <p:sp>
        <p:nvSpPr>
          <p:cNvPr id="36" name="Text 34"/>
          <p:cNvSpPr/>
          <p:nvPr/>
        </p:nvSpPr>
        <p:spPr>
          <a:xfrm>
            <a:off x="365760" y="3566160"/>
            <a:ext cx="8412480" cy="457200"/>
          </a:xfrm>
          <a:prstGeom prst="rect">
            <a:avLst/>
          </a:prstGeom>
          <a:noFill/>
          <a:ln/>
        </p:spPr>
        <p:txBody>
          <a:bodyPr wrap="square" rtlCol="0" anchor="ctr"/>
          <a:lstStyle/>
          <a:p>
            <a:pPr algn="ctr" indent="0" marL="0">
              <a:buNone/>
            </a:pPr>
            <a:r>
              <a:rPr lang="en-US" sz="2000" b="1" dirty="0">
                <a:solidFill>
                  <a:srgbClr val="FFFFFF"/>
                </a:solidFill>
              </a:rPr>
              <a:t>Merci pour votre attention 🙏</a:t>
            </a:r>
            <a:endParaRPr lang="en-US" sz="2000" dirty="0"/>
          </a:p>
        </p:txBody>
      </p:sp>
      <p:sp>
        <p:nvSpPr>
          <p:cNvPr id="37" name="Text 35"/>
          <p:cNvSpPr/>
          <p:nvPr/>
        </p:nvSpPr>
        <p:spPr>
          <a:xfrm>
            <a:off x="365760" y="4114800"/>
            <a:ext cx="8412480" cy="274320"/>
          </a:xfrm>
          <a:prstGeom prst="rect">
            <a:avLst/>
          </a:prstGeom>
          <a:noFill/>
          <a:ln/>
        </p:spPr>
        <p:txBody>
          <a:bodyPr wrap="square" rtlCol="0" anchor="ctr"/>
          <a:lstStyle/>
          <a:p>
            <a:pPr algn="ctr" indent="0" marL="0">
              <a:buNone/>
            </a:pPr>
            <a:r>
              <a:rPr lang="en-US" sz="1100" i="1" dirty="0">
                <a:solidFill>
                  <a:srgbClr val="6B9DB5"/>
                </a:solidFill>
              </a:rPr>
              <a:t>Big Data B2 — Sup de Vinci  ·  Formateur : Diallo Alimoú</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Parkings Rennes - Big Data</dc:title>
  <dc:subject>PptxGenJS Presentation</dc:subject>
  <dc:creator>Sébastien</dc:creator>
  <cp:lastModifiedBy>Sébastien</cp:lastModifiedBy>
  <cp:revision>1</cp:revision>
  <dcterms:created xsi:type="dcterms:W3CDTF">2026-04-03T09:27:12Z</dcterms:created>
  <dcterms:modified xsi:type="dcterms:W3CDTF">2026-04-03T09:27:12Z</dcterms:modified>
</cp:coreProperties>
</file>